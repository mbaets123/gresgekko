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82" r:id="rId2"/>
    <p:sldId id="408" r:id="rId3"/>
    <p:sldId id="258" r:id="rId4"/>
    <p:sldId id="260" r:id="rId5"/>
    <p:sldId id="257" r:id="rId6"/>
    <p:sldId id="395" r:id="rId7"/>
    <p:sldId id="410" r:id="rId8"/>
    <p:sldId id="411" r:id="rId9"/>
    <p:sldId id="412" r:id="rId10"/>
    <p:sldId id="413" r:id="rId11"/>
    <p:sldId id="403" r:id="rId12"/>
    <p:sldId id="414" r:id="rId13"/>
    <p:sldId id="409" r:id="rId14"/>
    <p:sldId id="308" r:id="rId15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81E5"/>
    <a:srgbClr val="FDB9D1"/>
    <a:srgbClr val="FF5050"/>
    <a:srgbClr val="78D8EE"/>
    <a:srgbClr val="FB65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ijl, gemiddeld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Stijl, gemiddeld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75686" autoAdjust="0"/>
  </p:normalViewPr>
  <p:slideViewPr>
    <p:cSldViewPr snapToGrid="0">
      <p:cViewPr varScale="1">
        <p:scale>
          <a:sx n="82" d="100"/>
          <a:sy n="82" d="100"/>
        </p:scale>
        <p:origin x="87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087F58-9A4B-4FD7-8D9D-1F4EEFD31250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58C3E1C-2C0A-4F4C-92E1-FA4CA92ABFDB}">
      <dgm:prSet custT="1"/>
      <dgm:spPr/>
      <dgm:t>
        <a:bodyPr/>
        <a:lstStyle/>
        <a:p>
          <a:pPr>
            <a:defRPr cap="all"/>
          </a:pPr>
          <a:r>
            <a:rPr lang="nl-NL" sz="1600" dirty="0">
              <a:latin typeface="+mj-lt"/>
            </a:rPr>
            <a:t>Leren Hoofdstuk 4 en 5.1 Tm 5.5</a:t>
          </a:r>
          <a:endParaRPr lang="en-US" sz="1600" dirty="0">
            <a:latin typeface="+mj-lt"/>
          </a:endParaRPr>
        </a:p>
      </dgm:t>
    </dgm:pt>
    <dgm:pt modelId="{B630E789-BDF0-4F2C-8F80-2DA32A980469}" type="parTrans" cxnId="{1632AA78-5912-41EF-B9AA-916B815475FE}">
      <dgm:prSet/>
      <dgm:spPr/>
      <dgm:t>
        <a:bodyPr/>
        <a:lstStyle/>
        <a:p>
          <a:endParaRPr lang="en-US"/>
        </a:p>
      </dgm:t>
    </dgm:pt>
    <dgm:pt modelId="{EF9F3F1C-8942-4785-A0A4-6BA8AAC086D1}" type="sibTrans" cxnId="{1632AA78-5912-41EF-B9AA-916B815475FE}">
      <dgm:prSet/>
      <dgm:spPr/>
      <dgm:t>
        <a:bodyPr/>
        <a:lstStyle/>
        <a:p>
          <a:endParaRPr lang="en-US"/>
        </a:p>
      </dgm:t>
    </dgm:pt>
    <dgm:pt modelId="{CF8ABD63-CCDE-48F9-88E6-2F1551806991}">
      <dgm:prSet custT="1"/>
      <dgm:spPr/>
      <dgm:t>
        <a:bodyPr/>
        <a:lstStyle/>
        <a:p>
          <a:pPr>
            <a:defRPr cap="all"/>
          </a:pPr>
          <a:r>
            <a:rPr lang="nl-NL" sz="1600" dirty="0">
              <a:latin typeface="+mj-lt"/>
            </a:rPr>
            <a:t>Zijn je samenvattingen in orde?</a:t>
          </a:r>
          <a:endParaRPr lang="en-US" sz="1600" dirty="0">
            <a:latin typeface="+mj-lt"/>
          </a:endParaRPr>
        </a:p>
      </dgm:t>
    </dgm:pt>
    <dgm:pt modelId="{18878660-F6B4-416C-A1BD-38197F61F5AE}" type="parTrans" cxnId="{FCAD8B59-C903-4039-B2A9-704B534B3351}">
      <dgm:prSet/>
      <dgm:spPr/>
      <dgm:t>
        <a:bodyPr/>
        <a:lstStyle/>
        <a:p>
          <a:endParaRPr lang="en-US"/>
        </a:p>
      </dgm:t>
    </dgm:pt>
    <dgm:pt modelId="{3AF7EBFA-9925-447D-8E67-E876CF23FB65}" type="sibTrans" cxnId="{FCAD8B59-C903-4039-B2A9-704B534B3351}">
      <dgm:prSet/>
      <dgm:spPr/>
      <dgm:t>
        <a:bodyPr/>
        <a:lstStyle/>
        <a:p>
          <a:endParaRPr lang="en-US"/>
        </a:p>
      </dgm:t>
    </dgm:pt>
    <dgm:pt modelId="{05AFBC1F-F500-4D6E-92DE-128A05F93647}">
      <dgm:prSet custT="1"/>
      <dgm:spPr/>
      <dgm:t>
        <a:bodyPr/>
        <a:lstStyle/>
        <a:p>
          <a:pPr>
            <a:defRPr cap="all"/>
          </a:pPr>
          <a:r>
            <a:rPr lang="nl-NL" sz="1600">
              <a:latin typeface="+mj-lt"/>
            </a:rPr>
            <a:t>Voorbereiden 5.6</a:t>
          </a:r>
          <a:br>
            <a:rPr lang="nl-NL" sz="1600" dirty="0">
              <a:latin typeface="+mj-lt"/>
            </a:rPr>
          </a:br>
          <a:r>
            <a:rPr lang="nl-NL" sz="1600" dirty="0">
              <a:latin typeface="+mj-lt"/>
            </a:rPr>
            <a:t>- </a:t>
          </a:r>
          <a:r>
            <a:rPr lang="nl-NL" sz="1600">
              <a:latin typeface="+mj-lt"/>
            </a:rPr>
            <a:t>Wo 29 </a:t>
          </a:r>
          <a:r>
            <a:rPr lang="nl-NL" sz="1600" dirty="0">
              <a:latin typeface="+mj-lt"/>
            </a:rPr>
            <a:t>maart</a:t>
          </a:r>
          <a:endParaRPr lang="en-US" sz="1600" dirty="0">
            <a:latin typeface="+mj-lt"/>
          </a:endParaRPr>
        </a:p>
      </dgm:t>
    </dgm:pt>
    <dgm:pt modelId="{61EF4A55-62D5-48AF-AFE7-5A12C5AE3EED}" type="sibTrans" cxnId="{0EEAB2C2-F982-4B81-B098-7A4BCF34AE7D}">
      <dgm:prSet/>
      <dgm:spPr/>
      <dgm:t>
        <a:bodyPr/>
        <a:lstStyle/>
        <a:p>
          <a:endParaRPr lang="en-US"/>
        </a:p>
      </dgm:t>
    </dgm:pt>
    <dgm:pt modelId="{714D40B6-03B0-42D9-B3F0-565058F97AD4}" type="parTrans" cxnId="{0EEAB2C2-F982-4B81-B098-7A4BCF34AE7D}">
      <dgm:prSet/>
      <dgm:spPr/>
      <dgm:t>
        <a:bodyPr/>
        <a:lstStyle/>
        <a:p>
          <a:endParaRPr lang="en-US"/>
        </a:p>
      </dgm:t>
    </dgm:pt>
    <dgm:pt modelId="{B6E97FBA-CB8A-4889-99B6-7FD8FBD232B5}" type="pres">
      <dgm:prSet presAssocID="{D5087F58-9A4B-4FD7-8D9D-1F4EEFD31250}" presName="root" presStyleCnt="0">
        <dgm:presLayoutVars>
          <dgm:dir/>
          <dgm:resizeHandles val="exact"/>
        </dgm:presLayoutVars>
      </dgm:prSet>
      <dgm:spPr/>
    </dgm:pt>
    <dgm:pt modelId="{AFA7B3F6-EC1A-4CBD-A15A-277C07D6C52C}" type="pres">
      <dgm:prSet presAssocID="{658C3E1C-2C0A-4F4C-92E1-FA4CA92ABFDB}" presName="compNode" presStyleCnt="0"/>
      <dgm:spPr/>
    </dgm:pt>
    <dgm:pt modelId="{07167935-4709-4959-9F4E-58407CA7391D}" type="pres">
      <dgm:prSet presAssocID="{658C3E1C-2C0A-4F4C-92E1-FA4CA92ABFDB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6BCA29B-AD80-47BC-8A1B-3E973F6DB84C}" type="pres">
      <dgm:prSet presAssocID="{658C3E1C-2C0A-4F4C-92E1-FA4CA92ABFD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laslokaal"/>
        </a:ext>
      </dgm:extLst>
    </dgm:pt>
    <dgm:pt modelId="{B645E451-4644-417A-A1F3-8C34C0FEE892}" type="pres">
      <dgm:prSet presAssocID="{658C3E1C-2C0A-4F4C-92E1-FA4CA92ABFDB}" presName="spaceRect" presStyleCnt="0"/>
      <dgm:spPr/>
    </dgm:pt>
    <dgm:pt modelId="{84C2BD40-88C2-477D-A210-EA385F8008CE}" type="pres">
      <dgm:prSet presAssocID="{658C3E1C-2C0A-4F4C-92E1-FA4CA92ABFDB}" presName="textRect" presStyleLbl="revTx" presStyleIdx="0" presStyleCnt="3" custLinFactNeighborX="-353" custLinFactNeighborY="-46653">
        <dgm:presLayoutVars>
          <dgm:chMax val="1"/>
          <dgm:chPref val="1"/>
        </dgm:presLayoutVars>
      </dgm:prSet>
      <dgm:spPr/>
    </dgm:pt>
    <dgm:pt modelId="{87D2A9BA-4A74-4D53-A770-56EEAAD187F5}" type="pres">
      <dgm:prSet presAssocID="{EF9F3F1C-8942-4785-A0A4-6BA8AAC086D1}" presName="sibTrans" presStyleCnt="0"/>
      <dgm:spPr/>
    </dgm:pt>
    <dgm:pt modelId="{521B4599-34AD-4088-9158-E05DA235E201}" type="pres">
      <dgm:prSet presAssocID="{CF8ABD63-CCDE-48F9-88E6-2F1551806991}" presName="compNode" presStyleCnt="0"/>
      <dgm:spPr/>
    </dgm:pt>
    <dgm:pt modelId="{628E004B-19BF-41F0-A5CD-EC97B64C8A5E}" type="pres">
      <dgm:prSet presAssocID="{CF8ABD63-CCDE-48F9-88E6-2F1551806991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1135190E-3B62-4FD0-9896-49B3FCA0711E}" type="pres">
      <dgm:prSet presAssocID="{CF8ABD63-CCDE-48F9-88E6-2F155180699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Quotation Mark"/>
        </a:ext>
      </dgm:extLst>
    </dgm:pt>
    <dgm:pt modelId="{18CC4E4D-EFE0-4835-8DDC-A533B8A53F38}" type="pres">
      <dgm:prSet presAssocID="{CF8ABD63-CCDE-48F9-88E6-2F1551806991}" presName="spaceRect" presStyleCnt="0"/>
      <dgm:spPr/>
    </dgm:pt>
    <dgm:pt modelId="{E754325C-4221-4D58-A3A3-D8D53022188E}" type="pres">
      <dgm:prSet presAssocID="{CF8ABD63-CCDE-48F9-88E6-2F1551806991}" presName="textRect" presStyleLbl="revTx" presStyleIdx="1" presStyleCnt="3" custLinFactX="13424" custLinFactNeighborX="100000" custLinFactNeighborY="-52539">
        <dgm:presLayoutVars>
          <dgm:chMax val="1"/>
          <dgm:chPref val="1"/>
        </dgm:presLayoutVars>
      </dgm:prSet>
      <dgm:spPr/>
    </dgm:pt>
    <dgm:pt modelId="{C38CEE49-F896-4EBE-BD92-502FD3B64174}" type="pres">
      <dgm:prSet presAssocID="{3AF7EBFA-9925-447D-8E67-E876CF23FB65}" presName="sibTrans" presStyleCnt="0"/>
      <dgm:spPr/>
    </dgm:pt>
    <dgm:pt modelId="{B6CCAAF1-5A8A-4A34-A1EA-64EFBF5CE080}" type="pres">
      <dgm:prSet presAssocID="{05AFBC1F-F500-4D6E-92DE-128A05F93647}" presName="compNode" presStyleCnt="0"/>
      <dgm:spPr/>
    </dgm:pt>
    <dgm:pt modelId="{440793BC-608C-42E9-88AF-006458996EF7}" type="pres">
      <dgm:prSet presAssocID="{05AFBC1F-F500-4D6E-92DE-128A05F93647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C28DAF3-07B1-474B-9109-6C541FA8219F}" type="pres">
      <dgm:prSet presAssocID="{05AFBC1F-F500-4D6E-92DE-128A05F9364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nkje"/>
        </a:ext>
      </dgm:extLst>
    </dgm:pt>
    <dgm:pt modelId="{0EA045B0-0B99-4427-9DC8-437957278D0B}" type="pres">
      <dgm:prSet presAssocID="{05AFBC1F-F500-4D6E-92DE-128A05F93647}" presName="spaceRect" presStyleCnt="0"/>
      <dgm:spPr/>
    </dgm:pt>
    <dgm:pt modelId="{BCA50469-C543-4B6B-B7C8-C0DA73BF41BE}" type="pres">
      <dgm:prSet presAssocID="{05AFBC1F-F500-4D6E-92DE-128A05F93647}" presName="textRect" presStyleLbl="revTx" presStyleIdx="2" presStyleCnt="3" custLinFactX="-23367" custLinFactNeighborX="-100000" custLinFactNeighborY="-49742">
        <dgm:presLayoutVars>
          <dgm:chMax val="1"/>
          <dgm:chPref val="1"/>
        </dgm:presLayoutVars>
      </dgm:prSet>
      <dgm:spPr/>
    </dgm:pt>
  </dgm:ptLst>
  <dgm:cxnLst>
    <dgm:cxn modelId="{4CDD3A0F-EECE-420A-A036-97192ECD8893}" type="presOf" srcId="{D5087F58-9A4B-4FD7-8D9D-1F4EEFD31250}" destId="{B6E97FBA-CB8A-4889-99B6-7FD8FBD232B5}" srcOrd="0" destOrd="0" presId="urn:microsoft.com/office/officeart/2018/5/layout/IconLeafLabelList"/>
    <dgm:cxn modelId="{5414673B-18CD-4D6B-8AAE-955E77625C87}" type="presOf" srcId="{CF8ABD63-CCDE-48F9-88E6-2F1551806991}" destId="{E754325C-4221-4D58-A3A3-D8D53022188E}" srcOrd="0" destOrd="0" presId="urn:microsoft.com/office/officeart/2018/5/layout/IconLeafLabelList"/>
    <dgm:cxn modelId="{1632AA78-5912-41EF-B9AA-916B815475FE}" srcId="{D5087F58-9A4B-4FD7-8D9D-1F4EEFD31250}" destId="{658C3E1C-2C0A-4F4C-92E1-FA4CA92ABFDB}" srcOrd="0" destOrd="0" parTransId="{B630E789-BDF0-4F2C-8F80-2DA32A980469}" sibTransId="{EF9F3F1C-8942-4785-A0A4-6BA8AAC086D1}"/>
    <dgm:cxn modelId="{FCAD8B59-C903-4039-B2A9-704B534B3351}" srcId="{D5087F58-9A4B-4FD7-8D9D-1F4EEFD31250}" destId="{CF8ABD63-CCDE-48F9-88E6-2F1551806991}" srcOrd="1" destOrd="0" parTransId="{18878660-F6B4-416C-A1BD-38197F61F5AE}" sibTransId="{3AF7EBFA-9925-447D-8E67-E876CF23FB65}"/>
    <dgm:cxn modelId="{0EEAB2C2-F982-4B81-B098-7A4BCF34AE7D}" srcId="{D5087F58-9A4B-4FD7-8D9D-1F4EEFD31250}" destId="{05AFBC1F-F500-4D6E-92DE-128A05F93647}" srcOrd="2" destOrd="0" parTransId="{714D40B6-03B0-42D9-B3F0-565058F97AD4}" sibTransId="{61EF4A55-62D5-48AF-AFE7-5A12C5AE3EED}"/>
    <dgm:cxn modelId="{70CB8AC6-8BC4-4971-B246-1A23CB013A31}" type="presOf" srcId="{658C3E1C-2C0A-4F4C-92E1-FA4CA92ABFDB}" destId="{84C2BD40-88C2-477D-A210-EA385F8008CE}" srcOrd="0" destOrd="0" presId="urn:microsoft.com/office/officeart/2018/5/layout/IconLeafLabelList"/>
    <dgm:cxn modelId="{EFC8F2D9-5062-4352-B258-AA1CD92000D7}" type="presOf" srcId="{05AFBC1F-F500-4D6E-92DE-128A05F93647}" destId="{BCA50469-C543-4B6B-B7C8-C0DA73BF41BE}" srcOrd="0" destOrd="0" presId="urn:microsoft.com/office/officeart/2018/5/layout/IconLeafLabelList"/>
    <dgm:cxn modelId="{A5FD9AF6-1D86-4233-BA1B-C09A8D3C9EB2}" type="presParOf" srcId="{B6E97FBA-CB8A-4889-99B6-7FD8FBD232B5}" destId="{AFA7B3F6-EC1A-4CBD-A15A-277C07D6C52C}" srcOrd="0" destOrd="0" presId="urn:microsoft.com/office/officeart/2018/5/layout/IconLeafLabelList"/>
    <dgm:cxn modelId="{620F256C-4462-4BF9-81CB-B3BB2B661543}" type="presParOf" srcId="{AFA7B3F6-EC1A-4CBD-A15A-277C07D6C52C}" destId="{07167935-4709-4959-9F4E-58407CA7391D}" srcOrd="0" destOrd="0" presId="urn:microsoft.com/office/officeart/2018/5/layout/IconLeafLabelList"/>
    <dgm:cxn modelId="{EB48233C-795B-423E-A9C9-F92120F982CD}" type="presParOf" srcId="{AFA7B3F6-EC1A-4CBD-A15A-277C07D6C52C}" destId="{A6BCA29B-AD80-47BC-8A1B-3E973F6DB84C}" srcOrd="1" destOrd="0" presId="urn:microsoft.com/office/officeart/2018/5/layout/IconLeafLabelList"/>
    <dgm:cxn modelId="{9FF161AB-140D-4E86-B59E-58D8B866A047}" type="presParOf" srcId="{AFA7B3F6-EC1A-4CBD-A15A-277C07D6C52C}" destId="{B645E451-4644-417A-A1F3-8C34C0FEE892}" srcOrd="2" destOrd="0" presId="urn:microsoft.com/office/officeart/2018/5/layout/IconLeafLabelList"/>
    <dgm:cxn modelId="{69548177-9646-4D73-8843-03D24B446A63}" type="presParOf" srcId="{AFA7B3F6-EC1A-4CBD-A15A-277C07D6C52C}" destId="{84C2BD40-88C2-477D-A210-EA385F8008CE}" srcOrd="3" destOrd="0" presId="urn:microsoft.com/office/officeart/2018/5/layout/IconLeafLabelList"/>
    <dgm:cxn modelId="{C2753DDC-D96D-4278-AA45-867F66694B7D}" type="presParOf" srcId="{B6E97FBA-CB8A-4889-99B6-7FD8FBD232B5}" destId="{87D2A9BA-4A74-4D53-A770-56EEAAD187F5}" srcOrd="1" destOrd="0" presId="urn:microsoft.com/office/officeart/2018/5/layout/IconLeafLabelList"/>
    <dgm:cxn modelId="{6F5954FC-ADE1-426E-A8E2-ECEFEC410C67}" type="presParOf" srcId="{B6E97FBA-CB8A-4889-99B6-7FD8FBD232B5}" destId="{521B4599-34AD-4088-9158-E05DA235E201}" srcOrd="2" destOrd="0" presId="urn:microsoft.com/office/officeart/2018/5/layout/IconLeafLabelList"/>
    <dgm:cxn modelId="{0C5F3029-34E4-426A-AC3E-766744FF6E27}" type="presParOf" srcId="{521B4599-34AD-4088-9158-E05DA235E201}" destId="{628E004B-19BF-41F0-A5CD-EC97B64C8A5E}" srcOrd="0" destOrd="0" presId="urn:microsoft.com/office/officeart/2018/5/layout/IconLeafLabelList"/>
    <dgm:cxn modelId="{68FFC545-B7FF-41D0-BB2E-B8E1EE715F91}" type="presParOf" srcId="{521B4599-34AD-4088-9158-E05DA235E201}" destId="{1135190E-3B62-4FD0-9896-49B3FCA0711E}" srcOrd="1" destOrd="0" presId="urn:microsoft.com/office/officeart/2018/5/layout/IconLeafLabelList"/>
    <dgm:cxn modelId="{3D45FE3F-7218-4FF0-AF01-0AAF43CB12DC}" type="presParOf" srcId="{521B4599-34AD-4088-9158-E05DA235E201}" destId="{18CC4E4D-EFE0-4835-8DDC-A533B8A53F38}" srcOrd="2" destOrd="0" presId="urn:microsoft.com/office/officeart/2018/5/layout/IconLeafLabelList"/>
    <dgm:cxn modelId="{B30244FB-4669-46B4-BE8C-C44D871C72AF}" type="presParOf" srcId="{521B4599-34AD-4088-9158-E05DA235E201}" destId="{E754325C-4221-4D58-A3A3-D8D53022188E}" srcOrd="3" destOrd="0" presId="urn:microsoft.com/office/officeart/2018/5/layout/IconLeafLabelList"/>
    <dgm:cxn modelId="{EDDDBAFB-0D8D-4139-B6A6-2773A27B6A0F}" type="presParOf" srcId="{B6E97FBA-CB8A-4889-99B6-7FD8FBD232B5}" destId="{C38CEE49-F896-4EBE-BD92-502FD3B64174}" srcOrd="3" destOrd="0" presId="urn:microsoft.com/office/officeart/2018/5/layout/IconLeafLabelList"/>
    <dgm:cxn modelId="{6AF2C738-43EB-40BF-8F13-C253355526DE}" type="presParOf" srcId="{B6E97FBA-CB8A-4889-99B6-7FD8FBD232B5}" destId="{B6CCAAF1-5A8A-4A34-A1EA-64EFBF5CE080}" srcOrd="4" destOrd="0" presId="urn:microsoft.com/office/officeart/2018/5/layout/IconLeafLabelList"/>
    <dgm:cxn modelId="{ED9205EA-AED5-4D70-9CFE-F5AB71435C0D}" type="presParOf" srcId="{B6CCAAF1-5A8A-4A34-A1EA-64EFBF5CE080}" destId="{440793BC-608C-42E9-88AF-006458996EF7}" srcOrd="0" destOrd="0" presId="urn:microsoft.com/office/officeart/2018/5/layout/IconLeafLabelList"/>
    <dgm:cxn modelId="{9663A3CB-F37B-48D9-B6EC-219CAC6A0EF7}" type="presParOf" srcId="{B6CCAAF1-5A8A-4A34-A1EA-64EFBF5CE080}" destId="{DC28DAF3-07B1-474B-9109-6C541FA8219F}" srcOrd="1" destOrd="0" presId="urn:microsoft.com/office/officeart/2018/5/layout/IconLeafLabelList"/>
    <dgm:cxn modelId="{05B5413A-04B8-4A15-A840-A21FAE50BF63}" type="presParOf" srcId="{B6CCAAF1-5A8A-4A34-A1EA-64EFBF5CE080}" destId="{0EA045B0-0B99-4427-9DC8-437957278D0B}" srcOrd="2" destOrd="0" presId="urn:microsoft.com/office/officeart/2018/5/layout/IconLeafLabelList"/>
    <dgm:cxn modelId="{8966292D-8F37-4309-8481-9DFC8E1E17C1}" type="presParOf" srcId="{B6CCAAF1-5A8A-4A34-A1EA-64EFBF5CE080}" destId="{BCA50469-C543-4B6B-B7C8-C0DA73BF41B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167935-4709-4959-9F4E-58407CA7391D}">
      <dsp:nvSpPr>
        <dsp:cNvPr id="0" name=""/>
        <dsp:cNvSpPr/>
      </dsp:nvSpPr>
      <dsp:spPr>
        <a:xfrm>
          <a:off x="726337" y="71058"/>
          <a:ext cx="1990125" cy="1990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BCA29B-AD80-47BC-8A1B-3E973F6DB84C}">
      <dsp:nvSpPr>
        <dsp:cNvPr id="0" name=""/>
        <dsp:cNvSpPr/>
      </dsp:nvSpPr>
      <dsp:spPr>
        <a:xfrm>
          <a:off x="1150462" y="495183"/>
          <a:ext cx="1141875" cy="11418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C2BD40-88C2-477D-A210-EA385F8008CE}">
      <dsp:nvSpPr>
        <dsp:cNvPr id="0" name=""/>
        <dsp:cNvSpPr/>
      </dsp:nvSpPr>
      <dsp:spPr>
        <a:xfrm>
          <a:off x="78632" y="2345157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NL" sz="1600" kern="1200" dirty="0">
              <a:latin typeface="+mj-lt"/>
            </a:rPr>
            <a:t>Leren Hoofdstuk 4 en 5.1 Tm 5.5</a:t>
          </a:r>
          <a:endParaRPr lang="en-US" sz="1600" kern="1200" dirty="0">
            <a:latin typeface="+mj-lt"/>
          </a:endParaRPr>
        </a:p>
      </dsp:txBody>
      <dsp:txXfrm>
        <a:off x="78632" y="2345157"/>
        <a:ext cx="3262500" cy="720000"/>
      </dsp:txXfrm>
    </dsp:sp>
    <dsp:sp modelId="{628E004B-19BF-41F0-A5CD-EC97B64C8A5E}">
      <dsp:nvSpPr>
        <dsp:cNvPr id="0" name=""/>
        <dsp:cNvSpPr/>
      </dsp:nvSpPr>
      <dsp:spPr>
        <a:xfrm>
          <a:off x="4559774" y="71058"/>
          <a:ext cx="1990125" cy="1990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35190E-3B62-4FD0-9896-49B3FCA0711E}">
      <dsp:nvSpPr>
        <dsp:cNvPr id="0" name=""/>
        <dsp:cNvSpPr/>
      </dsp:nvSpPr>
      <dsp:spPr>
        <a:xfrm>
          <a:off x="4983899" y="495183"/>
          <a:ext cx="1141875" cy="11418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54325C-4221-4D58-A3A3-D8D53022188E}">
      <dsp:nvSpPr>
        <dsp:cNvPr id="0" name=""/>
        <dsp:cNvSpPr/>
      </dsp:nvSpPr>
      <dsp:spPr>
        <a:xfrm>
          <a:off x="7624045" y="2302778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NL" sz="1600" kern="1200" dirty="0">
              <a:latin typeface="+mj-lt"/>
            </a:rPr>
            <a:t>Zijn je samenvattingen in orde?</a:t>
          </a:r>
          <a:endParaRPr lang="en-US" sz="1600" kern="1200" dirty="0">
            <a:latin typeface="+mj-lt"/>
          </a:endParaRPr>
        </a:p>
      </dsp:txBody>
      <dsp:txXfrm>
        <a:off x="7624045" y="2302778"/>
        <a:ext cx="3262500" cy="720000"/>
      </dsp:txXfrm>
    </dsp:sp>
    <dsp:sp modelId="{440793BC-608C-42E9-88AF-006458996EF7}">
      <dsp:nvSpPr>
        <dsp:cNvPr id="0" name=""/>
        <dsp:cNvSpPr/>
      </dsp:nvSpPr>
      <dsp:spPr>
        <a:xfrm>
          <a:off x="8393212" y="71058"/>
          <a:ext cx="1990125" cy="1990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28DAF3-07B1-474B-9109-6C541FA8219F}">
      <dsp:nvSpPr>
        <dsp:cNvPr id="0" name=""/>
        <dsp:cNvSpPr/>
      </dsp:nvSpPr>
      <dsp:spPr>
        <a:xfrm>
          <a:off x="8817337" y="495183"/>
          <a:ext cx="1141875" cy="11418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A50469-C543-4B6B-B7C8-C0DA73BF41BE}">
      <dsp:nvSpPr>
        <dsp:cNvPr id="0" name=""/>
        <dsp:cNvSpPr/>
      </dsp:nvSpPr>
      <dsp:spPr>
        <a:xfrm>
          <a:off x="3732176" y="2322916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NL" sz="1600" kern="1200">
              <a:latin typeface="+mj-lt"/>
            </a:rPr>
            <a:t>Voorbereiden 5.6</a:t>
          </a:r>
          <a:br>
            <a:rPr lang="nl-NL" sz="1600" kern="1200" dirty="0">
              <a:latin typeface="+mj-lt"/>
            </a:rPr>
          </a:br>
          <a:r>
            <a:rPr lang="nl-NL" sz="1600" kern="1200" dirty="0">
              <a:latin typeface="+mj-lt"/>
            </a:rPr>
            <a:t>- </a:t>
          </a:r>
          <a:r>
            <a:rPr lang="nl-NL" sz="1600" kern="1200">
              <a:latin typeface="+mj-lt"/>
            </a:rPr>
            <a:t>Wo 29 </a:t>
          </a:r>
          <a:r>
            <a:rPr lang="nl-NL" sz="1600" kern="1200" dirty="0">
              <a:latin typeface="+mj-lt"/>
            </a:rPr>
            <a:t>maart</a:t>
          </a:r>
          <a:endParaRPr lang="en-US" sz="1600" kern="1200" dirty="0">
            <a:latin typeface="+mj-lt"/>
          </a:endParaRPr>
        </a:p>
      </dsp:txBody>
      <dsp:txXfrm>
        <a:off x="3732176" y="2322916"/>
        <a:ext cx="32625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BB01AF-92C5-4E39-B6B2-DFDE7B200853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5E0E55-4707-449A-B760-D907C98706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97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AF1422-ED1B-6A24-F2FC-4FD66C04D8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E827910A-7CD4-313C-8824-F57DC08AF9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B7F1E1B-E47B-AB13-B1D8-281EEC957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F0934-FC96-4271-96A8-3A6108B57D4D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B5EA116-5333-6E40-1D30-7A9755F4F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0BBD49D-D06A-BC51-41E2-B83EBD87E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C42E-3085-4A84-9760-B32A7E670B6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608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50067A-3B67-A59B-73E2-F0AF69BB8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3F89D25-4958-52F2-1B89-FFA1F8324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32EF760-C785-1AE7-D721-5021567E4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F0934-FC96-4271-96A8-3A6108B57D4D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642C114-CBA4-7082-6DD0-7DA8FA813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51FA6C0-13D9-8260-9980-F6710779E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C42E-3085-4A84-9760-B32A7E670B6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772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D413F6-F2FD-C16A-83CB-E706DD50E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82AE46D-AC96-A563-27FB-C9F2D0CBB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727C542-E160-4DF4-AC59-569C089BE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F0934-FC96-4271-96A8-3A6108B57D4D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175D0BE-EB62-6BCE-F802-8E1AB3C24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1651044-28B3-AA32-2E1B-43073533D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C42E-3085-4A84-9760-B32A7E670B6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54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8CED17-9DB6-2116-A337-8209745E7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827D9BA-66D2-8F66-AE87-DCBA2AC440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574424B-A2E9-B29C-1EAE-A4A2FDCDA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CF7D7DA-D650-B187-CF3D-04676AB45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F0934-FC96-4271-96A8-3A6108B57D4D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4F54624-E0C6-3622-A34C-03615A302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2C93FDA-963D-6FF1-6E15-8D46AAF86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C42E-3085-4A84-9760-B32A7E670B6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791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D81700-038E-BD81-1504-6D780B8E3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D41EDB6-EF1E-B74F-CC74-A34593B3D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38C78EA-9154-CA03-E67D-D771E925D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C47D103C-B37A-8428-A67B-A237D7F68D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0A45C051-DC80-D016-7D7E-FDF6CF2F5C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6B139A19-5796-3D71-7BB3-4AE76C5DA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F0934-FC96-4271-96A8-3A6108B57D4D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CCD2DFFC-0C1E-FD0F-7DC5-B91A6A47A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FED840F5-85AD-1FC5-A6FE-DDABA8010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C42E-3085-4A84-9760-B32A7E670B6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782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978E7D-B8EA-FEEB-2473-3823CD4A6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903CED5-E08C-6501-B9DA-F67B00417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F0934-FC96-4271-96A8-3A6108B57D4D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161BB6ED-C645-376B-CBC6-8FC036494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7A214F1-1C26-5DCF-E1F1-0000D62E7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C42E-3085-4A84-9760-B32A7E670B6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75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260CC69E-8FDB-6BF8-2320-A6080A705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F0934-FC96-4271-96A8-3A6108B57D4D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96D34A6-6E05-5BD2-CA65-AAF873E52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4173130-DA97-23EA-353E-F86D6189C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C42E-3085-4A84-9760-B32A7E670B6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233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576424-0F3A-304C-1E7A-DB3E2D213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3666C54-3D36-0A32-8267-C1B959A57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4455C25-0C1A-71C0-2A77-EAF150479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4042320-619F-441A-32D6-FBCF00D17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F0934-FC96-4271-96A8-3A6108B57D4D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027074A-9AB7-26E1-1957-482A692A5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767B784-EF9A-CE02-5FA9-1042E478A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C42E-3085-4A84-9760-B32A7E670B6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163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6F1E66-1789-B1BC-F3A5-E42AC0ECE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3D39B2B5-9B75-0AE4-3D1B-57BB3AEC23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72F8AEA-1625-4ECE-A84C-3A4344290F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A7F8649-67B9-60A3-BA5B-1C7EF9C60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F0934-FC96-4271-96A8-3A6108B57D4D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4CA76C4-CD6F-B6E4-7708-6414BA5AF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C69CFA0-585A-178A-701C-7CC54DEE8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C42E-3085-4A84-9760-B32A7E670B6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99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D3B04E-ADF4-7E36-8D7A-CF15589CC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A4A7051-D569-A81D-89D1-135C3EF0C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00E135D-BF14-0743-D19D-DD28F04AB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F0934-FC96-4271-96A8-3A6108B57D4D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AE1FFC-7AF4-DF82-7CE6-0299E3BC1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59AA7AE-70DD-9013-3E9B-4334E622C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C42E-3085-4A84-9760-B32A7E670B6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669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04CE7D4B-52BB-C353-2921-BB4A766C6C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133BFEB5-D180-799D-CEAF-98604E371B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053EA1E-ADB3-C604-E09C-3553682EE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F0934-FC96-4271-96A8-3A6108B57D4D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55BABAB-4433-7921-0C29-ECF4E7E0F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9E5FE99-FBF0-7B26-984A-4CA7A0B2F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C42E-3085-4A84-9760-B32A7E670B6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53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AF43234A-792F-DBB8-90AE-BB4075F4B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28680D9-8DE0-FE91-F97A-FB5AB4A8F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BFD77A1-B952-E46B-2032-DC52641B93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7F0934-FC96-4271-96A8-3A6108B57D4D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AD4BEF4-7638-E199-A8FF-4F73606C67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6E8664A-E087-39EF-9E9B-B75F7AAAB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AFC42E-3085-4A84-9760-B32A7E670B6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000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hthoek 25">
            <a:extLst>
              <a:ext uri="{FF2B5EF4-FFF2-40B4-BE49-F238E27FC236}">
                <a16:creationId xmlns:a16="http://schemas.microsoft.com/office/drawing/2014/main" id="{EE3AAC0D-977A-6CF3-D187-72A3BAD95BC2}"/>
              </a:ext>
            </a:extLst>
          </p:cNvPr>
          <p:cNvSpPr/>
          <p:nvPr/>
        </p:nvSpPr>
        <p:spPr>
          <a:xfrm>
            <a:off x="5505549" y="4403306"/>
            <a:ext cx="1260385" cy="7153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hthoek 26">
            <a:extLst>
              <a:ext uri="{FF2B5EF4-FFF2-40B4-BE49-F238E27FC236}">
                <a16:creationId xmlns:a16="http://schemas.microsoft.com/office/drawing/2014/main" id="{E3D1FC79-5CDA-07AD-2A01-D1DCEA864ECC}"/>
              </a:ext>
            </a:extLst>
          </p:cNvPr>
          <p:cNvSpPr/>
          <p:nvPr/>
        </p:nvSpPr>
        <p:spPr>
          <a:xfrm>
            <a:off x="4260412" y="4403028"/>
            <a:ext cx="1260385" cy="71531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hthoek 27">
            <a:extLst>
              <a:ext uri="{FF2B5EF4-FFF2-40B4-BE49-F238E27FC236}">
                <a16:creationId xmlns:a16="http://schemas.microsoft.com/office/drawing/2014/main" id="{5C29BA57-0DBE-CD72-C684-3E9DB7F614DA}"/>
              </a:ext>
            </a:extLst>
          </p:cNvPr>
          <p:cNvSpPr/>
          <p:nvPr/>
        </p:nvSpPr>
        <p:spPr>
          <a:xfrm>
            <a:off x="6765934" y="4403307"/>
            <a:ext cx="1260385" cy="71531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hthoek 28">
            <a:extLst>
              <a:ext uri="{FF2B5EF4-FFF2-40B4-BE49-F238E27FC236}">
                <a16:creationId xmlns:a16="http://schemas.microsoft.com/office/drawing/2014/main" id="{5A7EC9E2-60D9-9B9C-37D7-3D76358C4783}"/>
              </a:ext>
            </a:extLst>
          </p:cNvPr>
          <p:cNvSpPr/>
          <p:nvPr/>
        </p:nvSpPr>
        <p:spPr>
          <a:xfrm>
            <a:off x="10445365" y="4393697"/>
            <a:ext cx="1260385" cy="7153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hthoek 29">
            <a:extLst>
              <a:ext uri="{FF2B5EF4-FFF2-40B4-BE49-F238E27FC236}">
                <a16:creationId xmlns:a16="http://schemas.microsoft.com/office/drawing/2014/main" id="{7904D847-D819-2265-6B2C-3A6F911B54E4}"/>
              </a:ext>
            </a:extLst>
          </p:cNvPr>
          <p:cNvSpPr/>
          <p:nvPr/>
        </p:nvSpPr>
        <p:spPr>
          <a:xfrm>
            <a:off x="1662019" y="4407789"/>
            <a:ext cx="1260385" cy="7153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hthoek 30">
            <a:extLst>
              <a:ext uri="{FF2B5EF4-FFF2-40B4-BE49-F238E27FC236}">
                <a16:creationId xmlns:a16="http://schemas.microsoft.com/office/drawing/2014/main" id="{754AD134-F53A-1BD5-E203-E22701222B9D}"/>
              </a:ext>
            </a:extLst>
          </p:cNvPr>
          <p:cNvSpPr/>
          <p:nvPr/>
        </p:nvSpPr>
        <p:spPr>
          <a:xfrm>
            <a:off x="419878" y="4403307"/>
            <a:ext cx="1260385" cy="71531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hthoek 31">
            <a:extLst>
              <a:ext uri="{FF2B5EF4-FFF2-40B4-BE49-F238E27FC236}">
                <a16:creationId xmlns:a16="http://schemas.microsoft.com/office/drawing/2014/main" id="{3A8BDC1D-5B51-1555-0F4F-405184EB99EC}"/>
              </a:ext>
            </a:extLst>
          </p:cNvPr>
          <p:cNvSpPr/>
          <p:nvPr/>
        </p:nvSpPr>
        <p:spPr>
          <a:xfrm>
            <a:off x="9203224" y="4398546"/>
            <a:ext cx="1260385" cy="71531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hthoek 34">
            <a:extLst>
              <a:ext uri="{FF2B5EF4-FFF2-40B4-BE49-F238E27FC236}">
                <a16:creationId xmlns:a16="http://schemas.microsoft.com/office/drawing/2014/main" id="{8F259C62-9CDF-5AFE-212F-E50BB48382C8}"/>
              </a:ext>
            </a:extLst>
          </p:cNvPr>
          <p:cNvSpPr/>
          <p:nvPr/>
        </p:nvSpPr>
        <p:spPr>
          <a:xfrm>
            <a:off x="5505549" y="3332897"/>
            <a:ext cx="1260385" cy="7153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hthoek 35">
            <a:extLst>
              <a:ext uri="{FF2B5EF4-FFF2-40B4-BE49-F238E27FC236}">
                <a16:creationId xmlns:a16="http://schemas.microsoft.com/office/drawing/2014/main" id="{00F610EE-E031-6CB4-5E4C-18593CABE238}"/>
              </a:ext>
            </a:extLst>
          </p:cNvPr>
          <p:cNvSpPr/>
          <p:nvPr/>
        </p:nvSpPr>
        <p:spPr>
          <a:xfrm>
            <a:off x="4260412" y="3332619"/>
            <a:ext cx="1260385" cy="71531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hthoek 36">
            <a:extLst>
              <a:ext uri="{FF2B5EF4-FFF2-40B4-BE49-F238E27FC236}">
                <a16:creationId xmlns:a16="http://schemas.microsoft.com/office/drawing/2014/main" id="{465E5153-A78D-E3B2-0F02-722A29642739}"/>
              </a:ext>
            </a:extLst>
          </p:cNvPr>
          <p:cNvSpPr/>
          <p:nvPr/>
        </p:nvSpPr>
        <p:spPr>
          <a:xfrm>
            <a:off x="6765934" y="3332898"/>
            <a:ext cx="1260385" cy="71531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hthoek 37">
            <a:extLst>
              <a:ext uri="{FF2B5EF4-FFF2-40B4-BE49-F238E27FC236}">
                <a16:creationId xmlns:a16="http://schemas.microsoft.com/office/drawing/2014/main" id="{64A447CF-3D73-B52B-F404-65480D19C5CB}"/>
              </a:ext>
            </a:extLst>
          </p:cNvPr>
          <p:cNvSpPr/>
          <p:nvPr/>
        </p:nvSpPr>
        <p:spPr>
          <a:xfrm>
            <a:off x="10445365" y="3323288"/>
            <a:ext cx="1260385" cy="7153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hthoek 38">
            <a:extLst>
              <a:ext uri="{FF2B5EF4-FFF2-40B4-BE49-F238E27FC236}">
                <a16:creationId xmlns:a16="http://schemas.microsoft.com/office/drawing/2014/main" id="{C5C39A82-AFB8-DA39-9EA3-C62EFEC1B77C}"/>
              </a:ext>
            </a:extLst>
          </p:cNvPr>
          <p:cNvSpPr/>
          <p:nvPr/>
        </p:nvSpPr>
        <p:spPr>
          <a:xfrm>
            <a:off x="1662019" y="3337380"/>
            <a:ext cx="1260385" cy="7153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hthoek 39">
            <a:extLst>
              <a:ext uri="{FF2B5EF4-FFF2-40B4-BE49-F238E27FC236}">
                <a16:creationId xmlns:a16="http://schemas.microsoft.com/office/drawing/2014/main" id="{7197AA7B-B3D3-AB51-0F2A-32BB8371830A}"/>
              </a:ext>
            </a:extLst>
          </p:cNvPr>
          <p:cNvSpPr/>
          <p:nvPr/>
        </p:nvSpPr>
        <p:spPr>
          <a:xfrm>
            <a:off x="419878" y="3332898"/>
            <a:ext cx="1260385" cy="71531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hthoek 40">
            <a:extLst>
              <a:ext uri="{FF2B5EF4-FFF2-40B4-BE49-F238E27FC236}">
                <a16:creationId xmlns:a16="http://schemas.microsoft.com/office/drawing/2014/main" id="{000F4225-AD06-63D6-868E-8F40479E9DBB}"/>
              </a:ext>
            </a:extLst>
          </p:cNvPr>
          <p:cNvSpPr/>
          <p:nvPr/>
        </p:nvSpPr>
        <p:spPr>
          <a:xfrm>
            <a:off x="9203224" y="3328137"/>
            <a:ext cx="1260385" cy="71531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hthoek 93">
            <a:extLst>
              <a:ext uri="{FF2B5EF4-FFF2-40B4-BE49-F238E27FC236}">
                <a16:creationId xmlns:a16="http://schemas.microsoft.com/office/drawing/2014/main" id="{C81EB5AF-FCBC-8692-F925-B1B8053F6446}"/>
              </a:ext>
            </a:extLst>
          </p:cNvPr>
          <p:cNvSpPr/>
          <p:nvPr/>
        </p:nvSpPr>
        <p:spPr>
          <a:xfrm>
            <a:off x="5505549" y="2268981"/>
            <a:ext cx="1260385" cy="7153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hthoek 94">
            <a:extLst>
              <a:ext uri="{FF2B5EF4-FFF2-40B4-BE49-F238E27FC236}">
                <a16:creationId xmlns:a16="http://schemas.microsoft.com/office/drawing/2014/main" id="{7DACDF82-5DE6-C457-ACEA-69C5B8A90083}"/>
              </a:ext>
            </a:extLst>
          </p:cNvPr>
          <p:cNvSpPr/>
          <p:nvPr/>
        </p:nvSpPr>
        <p:spPr>
          <a:xfrm>
            <a:off x="4260412" y="2268703"/>
            <a:ext cx="1260385" cy="71531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hthoek 95">
            <a:extLst>
              <a:ext uri="{FF2B5EF4-FFF2-40B4-BE49-F238E27FC236}">
                <a16:creationId xmlns:a16="http://schemas.microsoft.com/office/drawing/2014/main" id="{370D9C68-2FCA-569F-C420-C686AAF28024}"/>
              </a:ext>
            </a:extLst>
          </p:cNvPr>
          <p:cNvSpPr/>
          <p:nvPr/>
        </p:nvSpPr>
        <p:spPr>
          <a:xfrm>
            <a:off x="6765934" y="2268982"/>
            <a:ext cx="1260385" cy="71531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hthoek 96">
            <a:extLst>
              <a:ext uri="{FF2B5EF4-FFF2-40B4-BE49-F238E27FC236}">
                <a16:creationId xmlns:a16="http://schemas.microsoft.com/office/drawing/2014/main" id="{32AE8BE2-C776-3348-D972-C705F19E3785}"/>
              </a:ext>
            </a:extLst>
          </p:cNvPr>
          <p:cNvSpPr/>
          <p:nvPr/>
        </p:nvSpPr>
        <p:spPr>
          <a:xfrm>
            <a:off x="10445365" y="2259372"/>
            <a:ext cx="1260385" cy="7153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hthoek 97">
            <a:extLst>
              <a:ext uri="{FF2B5EF4-FFF2-40B4-BE49-F238E27FC236}">
                <a16:creationId xmlns:a16="http://schemas.microsoft.com/office/drawing/2014/main" id="{BDDCB48A-1FD5-C50B-C079-EAAE7AE05B73}"/>
              </a:ext>
            </a:extLst>
          </p:cNvPr>
          <p:cNvSpPr/>
          <p:nvPr/>
        </p:nvSpPr>
        <p:spPr>
          <a:xfrm>
            <a:off x="1662019" y="2273464"/>
            <a:ext cx="1260385" cy="7153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hthoek 98">
            <a:extLst>
              <a:ext uri="{FF2B5EF4-FFF2-40B4-BE49-F238E27FC236}">
                <a16:creationId xmlns:a16="http://schemas.microsoft.com/office/drawing/2014/main" id="{B9D8E755-134A-CEBF-E498-BF21B0CC320F}"/>
              </a:ext>
            </a:extLst>
          </p:cNvPr>
          <p:cNvSpPr/>
          <p:nvPr/>
        </p:nvSpPr>
        <p:spPr>
          <a:xfrm>
            <a:off x="419878" y="2268982"/>
            <a:ext cx="1260385" cy="71531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hthoek 99">
            <a:extLst>
              <a:ext uri="{FF2B5EF4-FFF2-40B4-BE49-F238E27FC236}">
                <a16:creationId xmlns:a16="http://schemas.microsoft.com/office/drawing/2014/main" id="{DBC63C45-FCD0-0635-8D1D-EB5AF060E5FC}"/>
              </a:ext>
            </a:extLst>
          </p:cNvPr>
          <p:cNvSpPr/>
          <p:nvPr/>
        </p:nvSpPr>
        <p:spPr>
          <a:xfrm>
            <a:off x="9203224" y="2264221"/>
            <a:ext cx="1260385" cy="71531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hthoek 100">
            <a:extLst>
              <a:ext uri="{FF2B5EF4-FFF2-40B4-BE49-F238E27FC236}">
                <a16:creationId xmlns:a16="http://schemas.microsoft.com/office/drawing/2014/main" id="{DFD8D4F0-7B42-B95E-9CB0-4B284A196A19}"/>
              </a:ext>
            </a:extLst>
          </p:cNvPr>
          <p:cNvSpPr/>
          <p:nvPr/>
        </p:nvSpPr>
        <p:spPr>
          <a:xfrm>
            <a:off x="5505549" y="1195299"/>
            <a:ext cx="1260385" cy="7153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hthoek 101">
            <a:extLst>
              <a:ext uri="{FF2B5EF4-FFF2-40B4-BE49-F238E27FC236}">
                <a16:creationId xmlns:a16="http://schemas.microsoft.com/office/drawing/2014/main" id="{C0DDB649-D360-5214-79B4-86CD8CCFAD39}"/>
              </a:ext>
            </a:extLst>
          </p:cNvPr>
          <p:cNvSpPr/>
          <p:nvPr/>
        </p:nvSpPr>
        <p:spPr>
          <a:xfrm>
            <a:off x="4260412" y="1195021"/>
            <a:ext cx="1260385" cy="71531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hthoek 102">
            <a:extLst>
              <a:ext uri="{FF2B5EF4-FFF2-40B4-BE49-F238E27FC236}">
                <a16:creationId xmlns:a16="http://schemas.microsoft.com/office/drawing/2014/main" id="{43CBBFBE-15CD-9AF6-8BF8-EB19FE8C1061}"/>
              </a:ext>
            </a:extLst>
          </p:cNvPr>
          <p:cNvSpPr/>
          <p:nvPr/>
        </p:nvSpPr>
        <p:spPr>
          <a:xfrm>
            <a:off x="6765934" y="1195300"/>
            <a:ext cx="1260385" cy="71531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hthoek 103">
            <a:extLst>
              <a:ext uri="{FF2B5EF4-FFF2-40B4-BE49-F238E27FC236}">
                <a16:creationId xmlns:a16="http://schemas.microsoft.com/office/drawing/2014/main" id="{B7C56FC6-6458-ABEF-B966-B0312A30EC12}"/>
              </a:ext>
            </a:extLst>
          </p:cNvPr>
          <p:cNvSpPr/>
          <p:nvPr/>
        </p:nvSpPr>
        <p:spPr>
          <a:xfrm>
            <a:off x="10445365" y="1185690"/>
            <a:ext cx="1260385" cy="7153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hthoek 104">
            <a:extLst>
              <a:ext uri="{FF2B5EF4-FFF2-40B4-BE49-F238E27FC236}">
                <a16:creationId xmlns:a16="http://schemas.microsoft.com/office/drawing/2014/main" id="{E423CB9E-BD1F-92ED-34AD-80F0C48CE8B8}"/>
              </a:ext>
            </a:extLst>
          </p:cNvPr>
          <p:cNvSpPr/>
          <p:nvPr/>
        </p:nvSpPr>
        <p:spPr>
          <a:xfrm>
            <a:off x="1662019" y="1199782"/>
            <a:ext cx="1260385" cy="7153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hthoek 105">
            <a:extLst>
              <a:ext uri="{FF2B5EF4-FFF2-40B4-BE49-F238E27FC236}">
                <a16:creationId xmlns:a16="http://schemas.microsoft.com/office/drawing/2014/main" id="{FCB5FB17-C63E-8CBF-4E37-715EA2494603}"/>
              </a:ext>
            </a:extLst>
          </p:cNvPr>
          <p:cNvSpPr/>
          <p:nvPr/>
        </p:nvSpPr>
        <p:spPr>
          <a:xfrm>
            <a:off x="419878" y="1195300"/>
            <a:ext cx="1260385" cy="71531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hthoek 106">
            <a:extLst>
              <a:ext uri="{FF2B5EF4-FFF2-40B4-BE49-F238E27FC236}">
                <a16:creationId xmlns:a16="http://schemas.microsoft.com/office/drawing/2014/main" id="{5818A890-51D0-7939-9C08-338625E7CA1A}"/>
              </a:ext>
            </a:extLst>
          </p:cNvPr>
          <p:cNvSpPr/>
          <p:nvPr/>
        </p:nvSpPr>
        <p:spPr>
          <a:xfrm>
            <a:off x="9203224" y="1190539"/>
            <a:ext cx="1260385" cy="71531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hthoek 107">
            <a:extLst>
              <a:ext uri="{FF2B5EF4-FFF2-40B4-BE49-F238E27FC236}">
                <a16:creationId xmlns:a16="http://schemas.microsoft.com/office/drawing/2014/main" id="{B9C7C460-9881-09F1-2B04-7659F7415162}"/>
              </a:ext>
            </a:extLst>
          </p:cNvPr>
          <p:cNvSpPr/>
          <p:nvPr/>
        </p:nvSpPr>
        <p:spPr>
          <a:xfrm>
            <a:off x="5505549" y="216062"/>
            <a:ext cx="1260385" cy="7153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hthoek 108">
            <a:extLst>
              <a:ext uri="{FF2B5EF4-FFF2-40B4-BE49-F238E27FC236}">
                <a16:creationId xmlns:a16="http://schemas.microsoft.com/office/drawing/2014/main" id="{3066324E-2E6B-3776-06D1-1E549A20F2B6}"/>
              </a:ext>
            </a:extLst>
          </p:cNvPr>
          <p:cNvSpPr/>
          <p:nvPr/>
        </p:nvSpPr>
        <p:spPr>
          <a:xfrm>
            <a:off x="4260412" y="215784"/>
            <a:ext cx="1260385" cy="71531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hthoek 109">
            <a:extLst>
              <a:ext uri="{FF2B5EF4-FFF2-40B4-BE49-F238E27FC236}">
                <a16:creationId xmlns:a16="http://schemas.microsoft.com/office/drawing/2014/main" id="{DE054EEB-A475-D5C6-967F-3A2E90622249}"/>
              </a:ext>
            </a:extLst>
          </p:cNvPr>
          <p:cNvSpPr/>
          <p:nvPr/>
        </p:nvSpPr>
        <p:spPr>
          <a:xfrm>
            <a:off x="6765934" y="216063"/>
            <a:ext cx="1260385" cy="71531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hthoek 110">
            <a:extLst>
              <a:ext uri="{FF2B5EF4-FFF2-40B4-BE49-F238E27FC236}">
                <a16:creationId xmlns:a16="http://schemas.microsoft.com/office/drawing/2014/main" id="{D817D682-974F-BCB3-6A70-7EA2C7118549}"/>
              </a:ext>
            </a:extLst>
          </p:cNvPr>
          <p:cNvSpPr/>
          <p:nvPr/>
        </p:nvSpPr>
        <p:spPr>
          <a:xfrm>
            <a:off x="10445365" y="206453"/>
            <a:ext cx="1260385" cy="7153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hthoek 111">
            <a:extLst>
              <a:ext uri="{FF2B5EF4-FFF2-40B4-BE49-F238E27FC236}">
                <a16:creationId xmlns:a16="http://schemas.microsoft.com/office/drawing/2014/main" id="{4EB3CB0B-12F3-D753-26C3-799B11E20EB2}"/>
              </a:ext>
            </a:extLst>
          </p:cNvPr>
          <p:cNvSpPr/>
          <p:nvPr/>
        </p:nvSpPr>
        <p:spPr>
          <a:xfrm>
            <a:off x="1662019" y="220545"/>
            <a:ext cx="1260385" cy="7153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hthoek 112">
            <a:extLst>
              <a:ext uri="{FF2B5EF4-FFF2-40B4-BE49-F238E27FC236}">
                <a16:creationId xmlns:a16="http://schemas.microsoft.com/office/drawing/2014/main" id="{4E26F5F6-8377-3772-B78F-500106E0DA11}"/>
              </a:ext>
            </a:extLst>
          </p:cNvPr>
          <p:cNvSpPr/>
          <p:nvPr/>
        </p:nvSpPr>
        <p:spPr>
          <a:xfrm>
            <a:off x="419878" y="216063"/>
            <a:ext cx="1260385" cy="71531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hthoek 113">
            <a:extLst>
              <a:ext uri="{FF2B5EF4-FFF2-40B4-BE49-F238E27FC236}">
                <a16:creationId xmlns:a16="http://schemas.microsoft.com/office/drawing/2014/main" id="{1555E006-BA37-0710-18BE-8CE8B4617794}"/>
              </a:ext>
            </a:extLst>
          </p:cNvPr>
          <p:cNvSpPr/>
          <p:nvPr/>
        </p:nvSpPr>
        <p:spPr>
          <a:xfrm>
            <a:off x="9203224" y="211302"/>
            <a:ext cx="1260385" cy="71531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Rechte verbindingslijn 48">
            <a:extLst>
              <a:ext uri="{FF2B5EF4-FFF2-40B4-BE49-F238E27FC236}">
                <a16:creationId xmlns:a16="http://schemas.microsoft.com/office/drawing/2014/main" id="{BF499F33-EF35-5966-5032-188667E50AD6}"/>
              </a:ext>
            </a:extLst>
          </p:cNvPr>
          <p:cNvCxnSpPr/>
          <p:nvPr/>
        </p:nvCxnSpPr>
        <p:spPr>
          <a:xfrm>
            <a:off x="3534743" y="6652727"/>
            <a:ext cx="5296681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kstvak 49">
            <a:extLst>
              <a:ext uri="{FF2B5EF4-FFF2-40B4-BE49-F238E27FC236}">
                <a16:creationId xmlns:a16="http://schemas.microsoft.com/office/drawing/2014/main" id="{336244DD-DA66-B0C2-5610-75636D00785F}"/>
              </a:ext>
            </a:extLst>
          </p:cNvPr>
          <p:cNvSpPr txBox="1"/>
          <p:nvPr/>
        </p:nvSpPr>
        <p:spPr>
          <a:xfrm>
            <a:off x="5541216" y="6283395"/>
            <a:ext cx="270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>
                <a:latin typeface="+mj-lt"/>
              </a:rPr>
              <a:t>Schoolbord</a:t>
            </a:r>
          </a:p>
        </p:txBody>
      </p:sp>
      <p:sp>
        <p:nvSpPr>
          <p:cNvPr id="52" name="Tekstvak 51">
            <a:extLst>
              <a:ext uri="{FF2B5EF4-FFF2-40B4-BE49-F238E27FC236}">
                <a16:creationId xmlns:a16="http://schemas.microsoft.com/office/drawing/2014/main" id="{0CE181C0-CB48-047C-7653-34EB28D58435}"/>
              </a:ext>
            </a:extLst>
          </p:cNvPr>
          <p:cNvSpPr txBox="1"/>
          <p:nvPr/>
        </p:nvSpPr>
        <p:spPr>
          <a:xfrm>
            <a:off x="1862066" y="4577755"/>
            <a:ext cx="99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 err="1"/>
              <a:t>Ahmad</a:t>
            </a:r>
            <a:endParaRPr lang="nl-BE" dirty="0"/>
          </a:p>
        </p:txBody>
      </p:sp>
      <p:sp>
        <p:nvSpPr>
          <p:cNvPr id="53" name="Tekstvak 52">
            <a:extLst>
              <a:ext uri="{FF2B5EF4-FFF2-40B4-BE49-F238E27FC236}">
                <a16:creationId xmlns:a16="http://schemas.microsoft.com/office/drawing/2014/main" id="{E9089292-0C83-102F-C3E1-18321E1D7D1D}"/>
              </a:ext>
            </a:extLst>
          </p:cNvPr>
          <p:cNvSpPr txBox="1"/>
          <p:nvPr/>
        </p:nvSpPr>
        <p:spPr>
          <a:xfrm>
            <a:off x="4469425" y="3496279"/>
            <a:ext cx="99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Sophie P</a:t>
            </a: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2AE75491-6397-951E-DC1E-A97BC492E3A6}"/>
              </a:ext>
            </a:extLst>
          </p:cNvPr>
          <p:cNvSpPr txBox="1"/>
          <p:nvPr/>
        </p:nvSpPr>
        <p:spPr>
          <a:xfrm>
            <a:off x="4474417" y="1367692"/>
            <a:ext cx="99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Florine</a:t>
            </a: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9F154439-85D3-10C4-9760-C406AA50DF44}"/>
              </a:ext>
            </a:extLst>
          </p:cNvPr>
          <p:cNvSpPr txBox="1"/>
          <p:nvPr/>
        </p:nvSpPr>
        <p:spPr>
          <a:xfrm>
            <a:off x="5884280" y="4598462"/>
            <a:ext cx="99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Rik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0BBFAB50-EAE0-8901-80F3-F7CF789F94D7}"/>
              </a:ext>
            </a:extLst>
          </p:cNvPr>
          <p:cNvSpPr txBox="1"/>
          <p:nvPr/>
        </p:nvSpPr>
        <p:spPr>
          <a:xfrm>
            <a:off x="9468507" y="1349430"/>
            <a:ext cx="99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 err="1"/>
              <a:t>Ewen</a:t>
            </a:r>
            <a:endParaRPr lang="nl-BE" dirty="0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0D9562C8-2E96-0DB5-872F-0744B65C61D2}"/>
              </a:ext>
            </a:extLst>
          </p:cNvPr>
          <p:cNvSpPr txBox="1"/>
          <p:nvPr/>
        </p:nvSpPr>
        <p:spPr>
          <a:xfrm>
            <a:off x="10721034" y="4584657"/>
            <a:ext cx="99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 err="1"/>
              <a:t>Aurelie</a:t>
            </a:r>
            <a:endParaRPr lang="nl-BE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B389BCD0-648C-1E78-F0F1-D6F1F39F9BBC}"/>
              </a:ext>
            </a:extLst>
          </p:cNvPr>
          <p:cNvSpPr txBox="1"/>
          <p:nvPr/>
        </p:nvSpPr>
        <p:spPr>
          <a:xfrm>
            <a:off x="10784176" y="3517500"/>
            <a:ext cx="99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Ties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A80E79FF-0CEF-3D7D-C583-59E0AF07DCD1}"/>
              </a:ext>
            </a:extLst>
          </p:cNvPr>
          <p:cNvSpPr txBox="1"/>
          <p:nvPr/>
        </p:nvSpPr>
        <p:spPr>
          <a:xfrm>
            <a:off x="9454141" y="2417399"/>
            <a:ext cx="99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 err="1"/>
              <a:t>Raf</a:t>
            </a:r>
            <a:r>
              <a:rPr lang="nl-BE" dirty="0"/>
              <a:t> V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099942AF-2421-2F71-FC88-1CF5F047B606}"/>
              </a:ext>
            </a:extLst>
          </p:cNvPr>
          <p:cNvSpPr txBox="1"/>
          <p:nvPr/>
        </p:nvSpPr>
        <p:spPr>
          <a:xfrm>
            <a:off x="4609630" y="2441693"/>
            <a:ext cx="99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 err="1"/>
              <a:t>Amir</a:t>
            </a:r>
            <a:endParaRPr lang="nl-BE" dirty="0"/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726EFD3A-B693-796A-4F42-66C24A3D462B}"/>
              </a:ext>
            </a:extLst>
          </p:cNvPr>
          <p:cNvSpPr txBox="1"/>
          <p:nvPr/>
        </p:nvSpPr>
        <p:spPr>
          <a:xfrm>
            <a:off x="5798336" y="2441693"/>
            <a:ext cx="1236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Jarno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E1D54BD5-B9DA-D4C6-097D-3FD9334448AA}"/>
              </a:ext>
            </a:extLst>
          </p:cNvPr>
          <p:cNvSpPr txBox="1"/>
          <p:nvPr/>
        </p:nvSpPr>
        <p:spPr>
          <a:xfrm>
            <a:off x="9490410" y="3499760"/>
            <a:ext cx="99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 err="1"/>
              <a:t>Rube</a:t>
            </a:r>
            <a:endParaRPr lang="nl-BE" dirty="0"/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D8939742-E7D2-C808-407D-ED02ACF60D07}"/>
              </a:ext>
            </a:extLst>
          </p:cNvPr>
          <p:cNvSpPr txBox="1"/>
          <p:nvPr/>
        </p:nvSpPr>
        <p:spPr>
          <a:xfrm>
            <a:off x="1923947" y="3505609"/>
            <a:ext cx="99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Owen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2A38980F-71A0-6F97-1AA8-C79CF9A9FF6E}"/>
              </a:ext>
            </a:extLst>
          </p:cNvPr>
          <p:cNvSpPr txBox="1"/>
          <p:nvPr/>
        </p:nvSpPr>
        <p:spPr>
          <a:xfrm>
            <a:off x="798608" y="4598462"/>
            <a:ext cx="99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 err="1"/>
              <a:t>Arian</a:t>
            </a:r>
            <a:endParaRPr lang="nl-BE" dirty="0"/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5FFEFC7B-6AD0-CD1F-1886-0885282CB711}"/>
              </a:ext>
            </a:extLst>
          </p:cNvPr>
          <p:cNvSpPr txBox="1"/>
          <p:nvPr/>
        </p:nvSpPr>
        <p:spPr>
          <a:xfrm>
            <a:off x="7053120" y="3505609"/>
            <a:ext cx="99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Lente</a:t>
            </a: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7C5B3291-6887-00BC-1E97-D0E776C5C5A5}"/>
              </a:ext>
            </a:extLst>
          </p:cNvPr>
          <p:cNvSpPr txBox="1"/>
          <p:nvPr/>
        </p:nvSpPr>
        <p:spPr>
          <a:xfrm>
            <a:off x="7053120" y="4589889"/>
            <a:ext cx="99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 err="1"/>
              <a:t>Fares</a:t>
            </a:r>
            <a:endParaRPr lang="nl-BE" dirty="0"/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5CD76467-2452-2F92-874C-F0C82C2C1662}"/>
              </a:ext>
            </a:extLst>
          </p:cNvPr>
          <p:cNvSpPr txBox="1"/>
          <p:nvPr/>
        </p:nvSpPr>
        <p:spPr>
          <a:xfrm>
            <a:off x="4488544" y="4580881"/>
            <a:ext cx="99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Quinn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400AFDBE-CEC9-13CC-A064-472279FFF950}"/>
              </a:ext>
            </a:extLst>
          </p:cNvPr>
          <p:cNvSpPr txBox="1"/>
          <p:nvPr/>
        </p:nvSpPr>
        <p:spPr>
          <a:xfrm>
            <a:off x="5767836" y="1367692"/>
            <a:ext cx="99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Lieve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AAAF0186-6D5B-CD88-CB52-EABC57A064EA}"/>
              </a:ext>
            </a:extLst>
          </p:cNvPr>
          <p:cNvSpPr txBox="1"/>
          <p:nvPr/>
        </p:nvSpPr>
        <p:spPr>
          <a:xfrm>
            <a:off x="5735218" y="3500973"/>
            <a:ext cx="99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Lieke</a:t>
            </a:r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64837B62-1F1A-F224-6753-3582A93DB7F7}"/>
              </a:ext>
            </a:extLst>
          </p:cNvPr>
          <p:cNvSpPr txBox="1"/>
          <p:nvPr/>
        </p:nvSpPr>
        <p:spPr>
          <a:xfrm>
            <a:off x="9450263" y="4576018"/>
            <a:ext cx="99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 err="1"/>
              <a:t>Lyana</a:t>
            </a:r>
            <a:endParaRPr lang="nl-BE" dirty="0"/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50014883-7EB7-BE69-A853-AD23EF1B97D1}"/>
              </a:ext>
            </a:extLst>
          </p:cNvPr>
          <p:cNvSpPr txBox="1"/>
          <p:nvPr/>
        </p:nvSpPr>
        <p:spPr>
          <a:xfrm>
            <a:off x="10843839" y="2437124"/>
            <a:ext cx="99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Fill</a:t>
            </a: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98D3DFD9-27F2-7466-C233-45699F30612F}"/>
              </a:ext>
            </a:extLst>
          </p:cNvPr>
          <p:cNvSpPr txBox="1"/>
          <p:nvPr/>
        </p:nvSpPr>
        <p:spPr>
          <a:xfrm>
            <a:off x="0" y="6468061"/>
            <a:ext cx="2448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Klassenindeling: Ha12</a:t>
            </a:r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3A7108F9-FED4-E94B-DD56-7583EE3DAFD7}"/>
              </a:ext>
            </a:extLst>
          </p:cNvPr>
          <p:cNvSpPr txBox="1"/>
          <p:nvPr/>
        </p:nvSpPr>
        <p:spPr>
          <a:xfrm>
            <a:off x="7069441" y="2441693"/>
            <a:ext cx="99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Sem</a:t>
            </a:r>
          </a:p>
        </p:txBody>
      </p:sp>
      <p:sp>
        <p:nvSpPr>
          <p:cNvPr id="115" name="Tekstvak 114">
            <a:extLst>
              <a:ext uri="{FF2B5EF4-FFF2-40B4-BE49-F238E27FC236}">
                <a16:creationId xmlns:a16="http://schemas.microsoft.com/office/drawing/2014/main" id="{1137301B-EBF6-78C4-F9D1-B49988502B4A}"/>
              </a:ext>
            </a:extLst>
          </p:cNvPr>
          <p:cNvSpPr txBox="1"/>
          <p:nvPr/>
        </p:nvSpPr>
        <p:spPr>
          <a:xfrm>
            <a:off x="720775" y="3506973"/>
            <a:ext cx="99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Nick</a:t>
            </a:r>
          </a:p>
        </p:txBody>
      </p:sp>
      <p:sp>
        <p:nvSpPr>
          <p:cNvPr id="116" name="Tekstvak 115">
            <a:extLst>
              <a:ext uri="{FF2B5EF4-FFF2-40B4-BE49-F238E27FC236}">
                <a16:creationId xmlns:a16="http://schemas.microsoft.com/office/drawing/2014/main" id="{B0E2EB8D-A197-3754-D6E7-E0AD19A2C171}"/>
              </a:ext>
            </a:extLst>
          </p:cNvPr>
          <p:cNvSpPr txBox="1"/>
          <p:nvPr/>
        </p:nvSpPr>
        <p:spPr>
          <a:xfrm>
            <a:off x="10692404" y="1349430"/>
            <a:ext cx="99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 err="1"/>
              <a:t>Raf</a:t>
            </a:r>
            <a:r>
              <a:rPr lang="nl-BE" dirty="0"/>
              <a:t> B</a:t>
            </a:r>
          </a:p>
        </p:txBody>
      </p:sp>
      <p:sp>
        <p:nvSpPr>
          <p:cNvPr id="117" name="Tekstvak 116">
            <a:extLst>
              <a:ext uri="{FF2B5EF4-FFF2-40B4-BE49-F238E27FC236}">
                <a16:creationId xmlns:a16="http://schemas.microsoft.com/office/drawing/2014/main" id="{12B454AB-879D-4F64-9F4A-46696C45E322}"/>
              </a:ext>
            </a:extLst>
          </p:cNvPr>
          <p:cNvSpPr txBox="1"/>
          <p:nvPr/>
        </p:nvSpPr>
        <p:spPr>
          <a:xfrm>
            <a:off x="6920478" y="1358276"/>
            <a:ext cx="1260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Sophie W</a:t>
            </a:r>
          </a:p>
        </p:txBody>
      </p:sp>
      <p:sp>
        <p:nvSpPr>
          <p:cNvPr id="118" name="Tekstvak 117">
            <a:extLst>
              <a:ext uri="{FF2B5EF4-FFF2-40B4-BE49-F238E27FC236}">
                <a16:creationId xmlns:a16="http://schemas.microsoft.com/office/drawing/2014/main" id="{EE4EDBD0-608F-A075-39FE-967BA928EFE7}"/>
              </a:ext>
            </a:extLst>
          </p:cNvPr>
          <p:cNvSpPr txBox="1"/>
          <p:nvPr/>
        </p:nvSpPr>
        <p:spPr>
          <a:xfrm>
            <a:off x="686244" y="2423150"/>
            <a:ext cx="1260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Collin</a:t>
            </a:r>
          </a:p>
        </p:txBody>
      </p:sp>
    </p:spTree>
    <p:extLst>
      <p:ext uri="{BB962C8B-B14F-4D97-AF65-F5344CB8AC3E}">
        <p14:creationId xmlns:p14="http://schemas.microsoft.com/office/powerpoint/2010/main" val="2555677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Neurons In The Brain Stock Photo - Download Image Now - Nerve Cell, Human  Nervous System, Hormone - iStock">
            <a:extLst>
              <a:ext uri="{FF2B5EF4-FFF2-40B4-BE49-F238E27FC236}">
                <a16:creationId xmlns:a16="http://schemas.microsoft.com/office/drawing/2014/main" id="{0B68336A-C29A-BC39-DF7C-35C408934F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E6854B5-BAC8-E70E-9EE2-6DF3290E21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nl-BE" dirty="0"/>
              <a:t>Regeling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C1FFB3A-E12E-7517-818C-1CD8EA3348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nl-BE" sz="2400" dirty="0"/>
              <a:t>5.6 Biologie voor Jou</a:t>
            </a:r>
            <a:br>
              <a:rPr lang="nl-BE" sz="2400" dirty="0"/>
            </a:br>
            <a:r>
              <a:rPr lang="nl-BE" sz="1800" dirty="0"/>
              <a:t>Leerjaar 1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43425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ight Yellow Background Paper | BD Backgrounds">
            <a:extLst>
              <a:ext uri="{FF2B5EF4-FFF2-40B4-BE49-F238E27FC236}">
                <a16:creationId xmlns:a16="http://schemas.microsoft.com/office/drawing/2014/main" id="{8DB234AB-66DB-1208-666D-67868055E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2505" y="-303323"/>
            <a:ext cx="12484359" cy="7682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kstvak 5">
            <a:extLst>
              <a:ext uri="{FF2B5EF4-FFF2-40B4-BE49-F238E27FC236}">
                <a16:creationId xmlns:a16="http://schemas.microsoft.com/office/drawing/2014/main" id="{A3DD698C-EDA1-7B6A-DC29-F2DFF050D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9806" y="2577028"/>
            <a:ext cx="3787643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nl-BE" altLang="en-NL" dirty="0">
                <a:latin typeface="Calibri Light" panose="020F0302020204030204" pitchFamily="34" charset="0"/>
                <a:cs typeface="Calibri Light" panose="020F0302020204030204" pitchFamily="34" charset="0"/>
              </a:rPr>
              <a:t>Welkom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nl-BE" altLang="en-NL" dirty="0">
                <a:latin typeface="Calibri Light" panose="020F0302020204030204" pitchFamily="34" charset="0"/>
                <a:cs typeface="Calibri Light" panose="020F0302020204030204" pitchFamily="34" charset="0"/>
              </a:rPr>
              <a:t>Herhalen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nl-BE" altLang="en-NL" dirty="0">
                <a:latin typeface="Calibri Light" panose="020F0302020204030204" pitchFamily="34" charset="0"/>
                <a:cs typeface="Calibri Light" panose="020F0302020204030204" pitchFamily="34" charset="0"/>
              </a:rPr>
              <a:t>Uitleg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nl-BE" altLang="en-NL" dirty="0">
                <a:latin typeface="Calibri Light" panose="020F0302020204030204" pitchFamily="34" charset="0"/>
                <a:cs typeface="Calibri Light" panose="020F0302020204030204" pitchFamily="34" charset="0"/>
              </a:rPr>
              <a:t>Zijn de leerdoelen gehaald?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nl-BE" altLang="en-NL" dirty="0">
                <a:latin typeface="Calibri Light" panose="020F0302020204030204" pitchFamily="34" charset="0"/>
                <a:cs typeface="Calibri Light" panose="020F0302020204030204" pitchFamily="34" charset="0"/>
              </a:rPr>
              <a:t>Huiswerk </a:t>
            </a:r>
          </a:p>
        </p:txBody>
      </p: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314073D7-A85E-0055-9A4F-6482B8DF4839}"/>
              </a:ext>
            </a:extLst>
          </p:cNvPr>
          <p:cNvCxnSpPr>
            <a:cxnSpLocks/>
          </p:cNvCxnSpPr>
          <p:nvPr/>
        </p:nvCxnSpPr>
        <p:spPr>
          <a:xfrm>
            <a:off x="5815013" y="1544843"/>
            <a:ext cx="0" cy="36272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0B8ED5C-E0BC-6FE1-9C04-062F9038AFA7}"/>
              </a:ext>
            </a:extLst>
          </p:cNvPr>
          <p:cNvSpPr txBox="1">
            <a:spLocks/>
          </p:cNvSpPr>
          <p:nvPr/>
        </p:nvSpPr>
        <p:spPr>
          <a:xfrm>
            <a:off x="1031745" y="2933898"/>
            <a:ext cx="4232275" cy="76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nl-BE" sz="4000" dirty="0">
                <a:latin typeface="Calibri Light" panose="020F0302020204030204" pitchFamily="34" charset="0"/>
                <a:cs typeface="Calibri Light" panose="020F0302020204030204" pitchFamily="34" charset="0"/>
              </a:rPr>
              <a:t>Wat gaan we doen?</a:t>
            </a:r>
          </a:p>
          <a:p>
            <a:pPr fontAlgn="auto">
              <a:spcAft>
                <a:spcPts val="0"/>
              </a:spcAft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702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: afgeronde hoeken 3">
            <a:extLst>
              <a:ext uri="{FF2B5EF4-FFF2-40B4-BE49-F238E27FC236}">
                <a16:creationId xmlns:a16="http://schemas.microsoft.com/office/drawing/2014/main" id="{1C6C21AE-5486-3F52-AF1C-C05E649B2CBD}"/>
              </a:ext>
            </a:extLst>
          </p:cNvPr>
          <p:cNvSpPr/>
          <p:nvPr/>
        </p:nvSpPr>
        <p:spPr>
          <a:xfrm>
            <a:off x="3676649" y="2751142"/>
            <a:ext cx="7650713" cy="133428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NL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B3444241-4A1B-0CB0-D41F-9C87A33A2E50}"/>
              </a:ext>
            </a:extLst>
          </p:cNvPr>
          <p:cNvSpPr/>
          <p:nvPr/>
        </p:nvSpPr>
        <p:spPr>
          <a:xfrm>
            <a:off x="0" y="1452563"/>
            <a:ext cx="1885950" cy="389731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NL"/>
          </a:p>
        </p:txBody>
      </p:sp>
      <p:pic>
        <p:nvPicPr>
          <p:cNvPr id="2" name="Picture 2" descr="Light Yellow Background Paper | BD Backgrounds">
            <a:extLst>
              <a:ext uri="{FF2B5EF4-FFF2-40B4-BE49-F238E27FC236}">
                <a16:creationId xmlns:a16="http://schemas.microsoft.com/office/drawing/2014/main" id="{A9047CC2-AF73-C15A-0662-736BCD22F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2505" y="-303323"/>
            <a:ext cx="12484359" cy="7682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F458911A-232B-3214-453E-9D52E7002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" y="2805398"/>
            <a:ext cx="17526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nl-BE" altLang="en-NL" sz="2800" dirty="0">
                <a:latin typeface="Calibri Light" panose="020F0302020204030204" pitchFamily="34" charset="0"/>
                <a:cs typeface="Calibri Light" panose="020F0302020204030204" pitchFamily="34" charset="0"/>
              </a:rPr>
              <a:t>Herhalen</a:t>
            </a:r>
          </a:p>
          <a:p>
            <a:pPr eaLnBrk="1" hangingPunct="1"/>
            <a:r>
              <a:rPr lang="nl-BE" altLang="en-NL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5.5 Gedrag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4C90E8AD-B032-CC5B-FD4F-B26B2B9A46B3}"/>
              </a:ext>
            </a:extLst>
          </p:cNvPr>
          <p:cNvSpPr txBox="1"/>
          <p:nvPr/>
        </p:nvSpPr>
        <p:spPr>
          <a:xfrm>
            <a:off x="4866108" y="2767279"/>
            <a:ext cx="72592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dirty="0">
                <a:latin typeface="+mj-lt"/>
              </a:rPr>
              <a:t>- Je kunt uitleggen wat gedrag is.</a:t>
            </a:r>
          </a:p>
          <a:p>
            <a:r>
              <a:rPr lang="nl-NL" sz="2000" dirty="0">
                <a:latin typeface="+mj-lt"/>
              </a:rPr>
              <a:t>- Je kunt uitleggen waardoor gedrag wordt bepaald.</a:t>
            </a:r>
          </a:p>
          <a:p>
            <a:r>
              <a:rPr lang="nl-NL" sz="2000" dirty="0">
                <a:latin typeface="+mj-lt"/>
              </a:rPr>
              <a:t>- Je kunt het verschil benoemen tussen observatie en </a:t>
            </a:r>
            <a:br>
              <a:rPr lang="nl-NL" sz="2000" dirty="0">
                <a:latin typeface="+mj-lt"/>
              </a:rPr>
            </a:br>
            <a:r>
              <a:rPr lang="nl-NL" sz="2000" dirty="0">
                <a:latin typeface="+mj-lt"/>
              </a:rPr>
              <a:t>interpretatie van gedrag.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FC0B5AE-B52E-E046-619C-59201BA49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9622" y="2949462"/>
            <a:ext cx="903514" cy="90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258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ight Yellow Background Paper | BD Backgrounds">
            <a:extLst>
              <a:ext uri="{FF2B5EF4-FFF2-40B4-BE49-F238E27FC236}">
                <a16:creationId xmlns:a16="http://schemas.microsoft.com/office/drawing/2014/main" id="{014E0B23-8BDC-B1C8-FEA0-1E712871F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2505" y="-331315"/>
            <a:ext cx="12484359" cy="7682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hthoek: afgeronde hoeken 3">
            <a:extLst>
              <a:ext uri="{FF2B5EF4-FFF2-40B4-BE49-F238E27FC236}">
                <a16:creationId xmlns:a16="http://schemas.microsoft.com/office/drawing/2014/main" id="{8A9E8924-E3C2-C0D6-0896-94C474ADD14C}"/>
              </a:ext>
            </a:extLst>
          </p:cNvPr>
          <p:cNvSpPr/>
          <p:nvPr/>
        </p:nvSpPr>
        <p:spPr>
          <a:xfrm>
            <a:off x="3805728" y="387714"/>
            <a:ext cx="4381500" cy="6778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50800" dist="50800" dir="5400000" algn="ctr" rotWithShape="0">
              <a:srgbClr val="000000">
                <a:alpha val="9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al 7">
            <a:extLst>
              <a:ext uri="{FF2B5EF4-FFF2-40B4-BE49-F238E27FC236}">
                <a16:creationId xmlns:a16="http://schemas.microsoft.com/office/drawing/2014/main" id="{230708D7-AA1E-06C4-99B9-302D5AF03C11}"/>
              </a:ext>
            </a:extLst>
          </p:cNvPr>
          <p:cNvSpPr/>
          <p:nvPr/>
        </p:nvSpPr>
        <p:spPr>
          <a:xfrm>
            <a:off x="4313080" y="1902132"/>
            <a:ext cx="3565839" cy="349096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b="1" i="0" dirty="0">
                <a:solidFill>
                  <a:srgbClr val="253646"/>
                </a:solidFill>
                <a:effectLst/>
                <a:latin typeface="+mj-lt"/>
              </a:rPr>
              <a:t>1. </a:t>
            </a:r>
            <a:r>
              <a:rPr lang="nl-NL" sz="1600" i="0" dirty="0">
                <a:solidFill>
                  <a:srgbClr val="253646"/>
                </a:solidFill>
                <a:effectLst/>
                <a:latin typeface="+mj-lt"/>
              </a:rPr>
              <a:t>Je kunt benoemen wat terugkoppeling is en hiervan voorbeelden geven.</a:t>
            </a:r>
            <a:br>
              <a:rPr lang="nl-NL" sz="1600" dirty="0">
                <a:latin typeface="+mj-lt"/>
              </a:rPr>
            </a:br>
            <a:endParaRPr lang="nl-NL" sz="1600" dirty="0">
              <a:latin typeface="+mj-lt"/>
            </a:endParaRPr>
          </a:p>
          <a:p>
            <a:pPr algn="ctr"/>
            <a:r>
              <a:rPr lang="nl-NL" sz="1600" b="1" dirty="0">
                <a:solidFill>
                  <a:srgbClr val="253646"/>
                </a:solidFill>
                <a:latin typeface="+mj-lt"/>
              </a:rPr>
              <a:t>2. </a:t>
            </a:r>
            <a:r>
              <a:rPr lang="nl-NL" sz="1600" i="0" dirty="0">
                <a:solidFill>
                  <a:srgbClr val="253646"/>
                </a:solidFill>
                <a:effectLst/>
                <a:latin typeface="+mj-lt"/>
              </a:rPr>
              <a:t>Je kunt de werking van adrenaline, glucagon en insuline benoemen.</a:t>
            </a:r>
            <a:endParaRPr lang="en-US" sz="1600" dirty="0">
              <a:latin typeface="+mj-lt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53427032-13F1-D95A-0601-C3BD4DE3D7DA}"/>
              </a:ext>
            </a:extLst>
          </p:cNvPr>
          <p:cNvSpPr txBox="1"/>
          <p:nvPr/>
        </p:nvSpPr>
        <p:spPr>
          <a:xfrm>
            <a:off x="3953366" y="434227"/>
            <a:ext cx="4086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sz="3200" dirty="0">
                <a:latin typeface="+mj-lt"/>
              </a:rPr>
              <a:t>Leerdoelen </a:t>
            </a:r>
          </a:p>
        </p:txBody>
      </p:sp>
    </p:spTree>
    <p:extLst>
      <p:ext uri="{BB962C8B-B14F-4D97-AF65-F5344CB8AC3E}">
        <p14:creationId xmlns:p14="http://schemas.microsoft.com/office/powerpoint/2010/main" val="802539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2" descr="Light Yellow Background Paper | BD Backgrounds">
            <a:extLst>
              <a:ext uri="{FF2B5EF4-FFF2-40B4-BE49-F238E27FC236}">
                <a16:creationId xmlns:a16="http://schemas.microsoft.com/office/drawing/2014/main" id="{F5A1A97A-E54B-D584-05C9-7AC880FBE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658" y="-316703"/>
            <a:ext cx="12484359" cy="7682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hthoek: afgeronde hoeken 3">
            <a:extLst>
              <a:ext uri="{FF2B5EF4-FFF2-40B4-BE49-F238E27FC236}">
                <a16:creationId xmlns:a16="http://schemas.microsoft.com/office/drawing/2014/main" id="{8A9E8924-E3C2-C0D6-0896-94C474ADD14C}"/>
              </a:ext>
            </a:extLst>
          </p:cNvPr>
          <p:cNvSpPr/>
          <p:nvPr/>
        </p:nvSpPr>
        <p:spPr>
          <a:xfrm>
            <a:off x="4312920" y="325232"/>
            <a:ext cx="3703320" cy="6778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50800" dist="50800" dir="5400000" algn="ctr" rotWithShape="0">
              <a:srgbClr val="000000">
                <a:alpha val="9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59B159AB-17D4-BC68-4138-5872084AF1D8}"/>
              </a:ext>
            </a:extLst>
          </p:cNvPr>
          <p:cNvSpPr txBox="1"/>
          <p:nvPr/>
        </p:nvSpPr>
        <p:spPr>
          <a:xfrm>
            <a:off x="2985796" y="346185"/>
            <a:ext cx="6447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sz="3200" dirty="0">
                <a:latin typeface="+mj-lt"/>
              </a:rPr>
              <a:t>Hormonen</a:t>
            </a: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012A9918-7009-D22F-2BD1-170E86CD91D7}"/>
              </a:ext>
            </a:extLst>
          </p:cNvPr>
          <p:cNvSpPr txBox="1"/>
          <p:nvPr/>
        </p:nvSpPr>
        <p:spPr>
          <a:xfrm>
            <a:off x="666158" y="1925538"/>
            <a:ext cx="10428562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2000" dirty="0">
                <a:latin typeface="+mj-lt"/>
              </a:rPr>
              <a:t>Traanklier produceert …</a:t>
            </a:r>
            <a:br>
              <a:rPr lang="nl-BE" sz="2000" dirty="0">
                <a:latin typeface="+mj-lt"/>
              </a:rPr>
            </a:br>
            <a:r>
              <a:rPr lang="nl-BE" sz="2000" dirty="0">
                <a:latin typeface="+mj-lt"/>
              </a:rPr>
              <a:t>Oorsmeerklier produceert …</a:t>
            </a:r>
            <a:br>
              <a:rPr lang="nl-BE" sz="2000" dirty="0">
                <a:latin typeface="+mj-lt"/>
              </a:rPr>
            </a:br>
            <a:r>
              <a:rPr lang="nl-BE" sz="2000" dirty="0">
                <a:latin typeface="+mj-lt"/>
              </a:rPr>
              <a:t>Zweetklier produceert…</a:t>
            </a:r>
            <a:br>
              <a:rPr lang="nl-BE" sz="2000" dirty="0">
                <a:latin typeface="+mj-lt"/>
              </a:rPr>
            </a:br>
            <a:r>
              <a:rPr lang="nl-BE" sz="2000" b="1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Hormoonklieren</a:t>
            </a:r>
            <a:r>
              <a:rPr lang="nl-BE" sz="2000" dirty="0">
                <a:latin typeface="+mj-lt"/>
              </a:rPr>
              <a:t> produceren …</a:t>
            </a:r>
            <a:br>
              <a:rPr lang="nl-BE" sz="2000" dirty="0">
                <a:latin typeface="+mj-lt"/>
              </a:rPr>
            </a:br>
            <a:br>
              <a:rPr lang="nl-BE" sz="2000" dirty="0">
                <a:latin typeface="+mj-lt"/>
              </a:rPr>
            </a:br>
            <a:endParaRPr lang="nl-BE" sz="2000" dirty="0">
              <a:latin typeface="+mj-lt"/>
            </a:endParaRPr>
          </a:p>
          <a:p>
            <a:br>
              <a:rPr lang="nl-BE" sz="2000" dirty="0">
                <a:latin typeface="+mj-lt"/>
              </a:rPr>
            </a:br>
            <a:endParaRPr lang="nl-BE" i="1" dirty="0">
              <a:latin typeface="+mj-lt"/>
            </a:endParaRP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BB872CBA-7524-9965-7745-11519BCF4F35}"/>
              </a:ext>
            </a:extLst>
          </p:cNvPr>
          <p:cNvSpPr txBox="1"/>
          <p:nvPr/>
        </p:nvSpPr>
        <p:spPr>
          <a:xfrm>
            <a:off x="3200039" y="1925538"/>
            <a:ext cx="9107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2000" dirty="0">
                <a:solidFill>
                  <a:srgbClr val="FF0000"/>
                </a:solidFill>
                <a:latin typeface="+mj-lt"/>
              </a:rPr>
              <a:t>Tranen</a:t>
            </a:r>
            <a:endParaRPr lang="nl-BE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E613C2A5-8C8D-2815-3AB7-4413A01109F3}"/>
              </a:ext>
            </a:extLst>
          </p:cNvPr>
          <p:cNvSpPr txBox="1"/>
          <p:nvPr/>
        </p:nvSpPr>
        <p:spPr>
          <a:xfrm>
            <a:off x="3683389" y="2228919"/>
            <a:ext cx="16217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2000" dirty="0">
                <a:solidFill>
                  <a:srgbClr val="FF0000"/>
                </a:solidFill>
                <a:latin typeface="+mj-lt"/>
              </a:rPr>
              <a:t>Oorsmeer</a:t>
            </a:r>
            <a:endParaRPr lang="nl-BE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286713D2-9B22-1446-B3DE-6E6ADB69A2C9}"/>
              </a:ext>
            </a:extLst>
          </p:cNvPr>
          <p:cNvSpPr txBox="1"/>
          <p:nvPr/>
        </p:nvSpPr>
        <p:spPr>
          <a:xfrm>
            <a:off x="3936179" y="2838329"/>
            <a:ext cx="16217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2000" b="1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Hormonen</a:t>
            </a:r>
            <a:endParaRPr lang="nl-BE" b="1" i="1" dirty="0">
              <a:solidFill>
                <a:schemeClr val="accent4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D193214A-7E63-AB71-BFB1-2036B9CA5F74}"/>
              </a:ext>
            </a:extLst>
          </p:cNvPr>
          <p:cNvSpPr txBox="1"/>
          <p:nvPr/>
        </p:nvSpPr>
        <p:spPr>
          <a:xfrm>
            <a:off x="3204057" y="2532300"/>
            <a:ext cx="16217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2000" dirty="0">
                <a:solidFill>
                  <a:srgbClr val="FF0000"/>
                </a:solidFill>
                <a:latin typeface="+mj-lt"/>
              </a:rPr>
              <a:t>Zweet</a:t>
            </a:r>
            <a:endParaRPr lang="nl-BE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9" name="Pijl: gebogen omhoog 18">
            <a:extLst>
              <a:ext uri="{FF2B5EF4-FFF2-40B4-BE49-F238E27FC236}">
                <a16:creationId xmlns:a16="http://schemas.microsoft.com/office/drawing/2014/main" id="{1D8D4C5A-7DA6-A80B-3096-13100E982F32}"/>
              </a:ext>
            </a:extLst>
          </p:cNvPr>
          <p:cNvSpPr/>
          <p:nvPr/>
        </p:nvSpPr>
        <p:spPr>
          <a:xfrm rot="5400000">
            <a:off x="4839317" y="2900222"/>
            <a:ext cx="242958" cy="933061"/>
          </a:xfrm>
          <a:prstGeom prst="bent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049B559E-E6DB-BC03-6983-339D5F5A1322}"/>
              </a:ext>
            </a:extLst>
          </p:cNvPr>
          <p:cNvSpPr txBox="1"/>
          <p:nvPr/>
        </p:nvSpPr>
        <p:spPr>
          <a:xfrm>
            <a:off x="5515568" y="3226223"/>
            <a:ext cx="63150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dirty="0">
                <a:latin typeface="+mj-lt"/>
              </a:rPr>
              <a:t>S</a:t>
            </a:r>
            <a:r>
              <a:rPr lang="nl-BE" sz="1800" dirty="0">
                <a:latin typeface="+mj-lt"/>
              </a:rPr>
              <a:t>toffen die de werking van organen regelen.</a:t>
            </a:r>
            <a:br>
              <a:rPr lang="nl-BE" dirty="0">
                <a:latin typeface="+mj-lt"/>
              </a:rPr>
            </a:br>
            <a:endParaRPr lang="en-US" dirty="0"/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EAA08976-1ACC-1EE9-609F-CD990C86A988}"/>
              </a:ext>
            </a:extLst>
          </p:cNvPr>
          <p:cNvSpPr txBox="1"/>
          <p:nvPr/>
        </p:nvSpPr>
        <p:spPr>
          <a:xfrm>
            <a:off x="666158" y="1386560"/>
            <a:ext cx="6238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2000" b="1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Klier</a:t>
            </a:r>
            <a:r>
              <a:rPr lang="nl-BE" sz="2000" dirty="0">
                <a:latin typeface="+mj-lt"/>
              </a:rPr>
              <a:t> is een orgaan dat stoffen produceert.</a:t>
            </a:r>
            <a:endParaRPr lang="en-US" sz="2000" dirty="0"/>
          </a:p>
        </p:txBody>
      </p:sp>
      <p:sp>
        <p:nvSpPr>
          <p:cNvPr id="30" name="Pijl: omlaag 29">
            <a:extLst>
              <a:ext uri="{FF2B5EF4-FFF2-40B4-BE49-F238E27FC236}">
                <a16:creationId xmlns:a16="http://schemas.microsoft.com/office/drawing/2014/main" id="{425BD6F2-73AC-21BB-B5D7-A0E96622A2FA}"/>
              </a:ext>
            </a:extLst>
          </p:cNvPr>
          <p:cNvSpPr/>
          <p:nvPr/>
        </p:nvSpPr>
        <p:spPr>
          <a:xfrm>
            <a:off x="1507447" y="3264323"/>
            <a:ext cx="106680" cy="824248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15474FFA-E104-FD00-C4AD-CCE3693432B8}"/>
              </a:ext>
            </a:extLst>
          </p:cNvPr>
          <p:cNvSpPr txBox="1"/>
          <p:nvPr/>
        </p:nvSpPr>
        <p:spPr>
          <a:xfrm>
            <a:off x="1117282" y="4150720"/>
            <a:ext cx="88344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i="1" dirty="0">
                <a:latin typeface="+mj-lt"/>
              </a:rPr>
              <a:t>Werking</a:t>
            </a:r>
            <a:br>
              <a:rPr lang="nl-BE" dirty="0">
                <a:latin typeface="+mj-lt"/>
              </a:rPr>
            </a:br>
            <a:r>
              <a:rPr lang="nl-BE" dirty="0">
                <a:latin typeface="+mj-lt"/>
              </a:rPr>
              <a:t>1. Geven hormonen af aan het bloed.</a:t>
            </a:r>
            <a:br>
              <a:rPr lang="nl-BE" dirty="0">
                <a:latin typeface="+mj-lt"/>
              </a:rPr>
            </a:br>
            <a:r>
              <a:rPr lang="nl-BE" dirty="0">
                <a:latin typeface="+mj-lt"/>
              </a:rPr>
              <a:t>2. Via het bloed komen ze in het hele lichaam terecht.</a:t>
            </a:r>
            <a:br>
              <a:rPr lang="nl-BE" dirty="0">
                <a:latin typeface="+mj-lt"/>
              </a:rPr>
            </a:br>
            <a:r>
              <a:rPr lang="nl-BE" dirty="0">
                <a:latin typeface="+mj-lt"/>
              </a:rPr>
              <a:t>3. Hormonen zijn werkzaam in weefsels en organen die hiervoor gevoelig zijn.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354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9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12149E48-5886-6AF3-F928-C6233CD2D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988" y="1054358"/>
            <a:ext cx="6260023" cy="5688363"/>
          </a:xfrm>
          <a:prstGeom prst="rect">
            <a:avLst/>
          </a:prstGeom>
        </p:spPr>
      </p:pic>
      <p:pic>
        <p:nvPicPr>
          <p:cNvPr id="38" name="Picture 2" descr="Light Yellow Background Paper | BD Backgrounds">
            <a:extLst>
              <a:ext uri="{FF2B5EF4-FFF2-40B4-BE49-F238E27FC236}">
                <a16:creationId xmlns:a16="http://schemas.microsoft.com/office/drawing/2014/main" id="{F5A1A97A-E54B-D584-05C9-7AC880FBE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658" y="-344696"/>
            <a:ext cx="12484359" cy="7682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al 3">
            <a:extLst>
              <a:ext uri="{FF2B5EF4-FFF2-40B4-BE49-F238E27FC236}">
                <a16:creationId xmlns:a16="http://schemas.microsoft.com/office/drawing/2014/main" id="{9E985774-BCFE-A734-7A10-037D3A971537}"/>
              </a:ext>
            </a:extLst>
          </p:cNvPr>
          <p:cNvSpPr/>
          <p:nvPr/>
        </p:nvSpPr>
        <p:spPr>
          <a:xfrm>
            <a:off x="363894" y="3269887"/>
            <a:ext cx="2128539" cy="108727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012A9918-7009-D22F-2BD1-170E86CD91D7}"/>
              </a:ext>
            </a:extLst>
          </p:cNvPr>
          <p:cNvSpPr txBox="1"/>
          <p:nvPr/>
        </p:nvSpPr>
        <p:spPr>
          <a:xfrm>
            <a:off x="3343901" y="635586"/>
            <a:ext cx="9044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2000" dirty="0">
                <a:solidFill>
                  <a:srgbClr val="BF81E5"/>
                </a:solidFill>
                <a:latin typeface="+mj-lt"/>
              </a:rPr>
              <a:t>Vrouw</a:t>
            </a:r>
            <a:endParaRPr lang="nl-BE" i="1" dirty="0">
              <a:solidFill>
                <a:srgbClr val="BF81E5"/>
              </a:solidFill>
              <a:latin typeface="+mj-lt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12BB0693-E49A-0C6D-3CF7-1286F37F2C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D711E8B9-9EF7-D783-5C85-718D3D35161A}"/>
              </a:ext>
            </a:extLst>
          </p:cNvPr>
          <p:cNvSpPr txBox="1"/>
          <p:nvPr/>
        </p:nvSpPr>
        <p:spPr>
          <a:xfrm>
            <a:off x="7624954" y="588539"/>
            <a:ext cx="9044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2000" dirty="0">
                <a:solidFill>
                  <a:srgbClr val="00B0F0"/>
                </a:solidFill>
                <a:latin typeface="+mj-lt"/>
              </a:rPr>
              <a:t>Man</a:t>
            </a:r>
            <a:endParaRPr lang="nl-BE" i="1" dirty="0">
              <a:solidFill>
                <a:srgbClr val="00B0F0"/>
              </a:solidFill>
              <a:latin typeface="+mj-lt"/>
            </a:endParaRPr>
          </a:p>
        </p:txBody>
      </p: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0693AAE2-06A9-A643-1BA9-8F47FF737F35}"/>
              </a:ext>
            </a:extLst>
          </p:cNvPr>
          <p:cNvCxnSpPr/>
          <p:nvPr/>
        </p:nvCxnSpPr>
        <p:spPr>
          <a:xfrm flipV="1">
            <a:off x="7959012" y="1222310"/>
            <a:ext cx="1175657" cy="2519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echte verbindingslijn met pijl 11">
            <a:extLst>
              <a:ext uri="{FF2B5EF4-FFF2-40B4-BE49-F238E27FC236}">
                <a16:creationId xmlns:a16="http://schemas.microsoft.com/office/drawing/2014/main" id="{78C55760-C849-379E-66B8-B38C374FF72E}"/>
              </a:ext>
            </a:extLst>
          </p:cNvPr>
          <p:cNvCxnSpPr>
            <a:cxnSpLocks/>
          </p:cNvCxnSpPr>
          <p:nvPr/>
        </p:nvCxnSpPr>
        <p:spPr>
          <a:xfrm flipH="1" flipV="1">
            <a:off x="2332653" y="1838131"/>
            <a:ext cx="1463495" cy="247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kstvak 13">
            <a:extLst>
              <a:ext uri="{FF2B5EF4-FFF2-40B4-BE49-F238E27FC236}">
                <a16:creationId xmlns:a16="http://schemas.microsoft.com/office/drawing/2014/main" id="{96F22253-958C-FC8A-015E-3735D717D9B3}"/>
              </a:ext>
            </a:extLst>
          </p:cNvPr>
          <p:cNvSpPr txBox="1"/>
          <p:nvPr/>
        </p:nvSpPr>
        <p:spPr>
          <a:xfrm>
            <a:off x="9162553" y="1026365"/>
            <a:ext cx="301078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600" dirty="0">
                <a:latin typeface="+mj-lt"/>
              </a:rPr>
              <a:t>GH (Groeihormoon)</a:t>
            </a:r>
            <a:br>
              <a:rPr lang="nl-BE" sz="1600" dirty="0">
                <a:latin typeface="+mj-lt"/>
              </a:rPr>
            </a:br>
            <a:br>
              <a:rPr lang="nl-BE" sz="1600" dirty="0">
                <a:latin typeface="+mj-lt"/>
              </a:rPr>
            </a:br>
            <a:r>
              <a:rPr lang="nl-BE" sz="1600" i="1" dirty="0">
                <a:latin typeface="+mj-lt"/>
              </a:rPr>
              <a:t>Geslachtshormonen</a:t>
            </a:r>
            <a:br>
              <a:rPr lang="nl-BE" sz="1600" dirty="0">
                <a:latin typeface="+mj-lt"/>
              </a:rPr>
            </a:br>
            <a:r>
              <a:rPr lang="nl-BE" sz="1600" dirty="0">
                <a:latin typeface="+mj-lt"/>
              </a:rPr>
              <a:t>LH (Luteïniserend hormoon)</a:t>
            </a:r>
            <a:br>
              <a:rPr lang="nl-BE" sz="1600" dirty="0">
                <a:latin typeface="+mj-lt"/>
              </a:rPr>
            </a:br>
            <a:r>
              <a:rPr lang="nl-BE" sz="1600" dirty="0">
                <a:latin typeface="+mj-lt"/>
              </a:rPr>
              <a:t>FSH (Follikelstimulerend hormoon)</a:t>
            </a:r>
            <a:endParaRPr lang="en-US" sz="1600" dirty="0"/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61FB8725-73B2-5C79-0D92-7DF66EC36A61}"/>
              </a:ext>
            </a:extLst>
          </p:cNvPr>
          <p:cNvSpPr txBox="1"/>
          <p:nvPr/>
        </p:nvSpPr>
        <p:spPr>
          <a:xfrm>
            <a:off x="1016237" y="1670044"/>
            <a:ext cx="14374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600" i="1" dirty="0">
                <a:latin typeface="+mj-lt"/>
              </a:rPr>
              <a:t>Stofwisseling</a:t>
            </a:r>
            <a:br>
              <a:rPr lang="nl-BE" sz="1600" i="1" dirty="0">
                <a:latin typeface="+mj-lt"/>
              </a:rPr>
            </a:br>
            <a:r>
              <a:rPr lang="nl-BE" sz="1600" dirty="0">
                <a:latin typeface="+mj-lt"/>
              </a:rPr>
              <a:t>Thyroxine</a:t>
            </a:r>
            <a:br>
              <a:rPr lang="nl-BE" sz="1600" dirty="0">
                <a:latin typeface="+mj-lt"/>
              </a:rPr>
            </a:br>
            <a:r>
              <a:rPr lang="nl-BE" sz="1600" dirty="0">
                <a:latin typeface="+mj-lt"/>
              </a:rPr>
              <a:t>T3</a:t>
            </a:r>
            <a:endParaRPr lang="en-US" sz="1600" i="1" dirty="0"/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CE86C54E-577B-3187-F0F6-21F1900ADF2E}"/>
              </a:ext>
            </a:extLst>
          </p:cNvPr>
          <p:cNvSpPr txBox="1"/>
          <p:nvPr/>
        </p:nvSpPr>
        <p:spPr>
          <a:xfrm>
            <a:off x="708248" y="3470776"/>
            <a:ext cx="30107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600" i="1" dirty="0">
                <a:latin typeface="+mj-lt"/>
              </a:rPr>
              <a:t>Bloedsuikerspiegel</a:t>
            </a:r>
            <a:br>
              <a:rPr lang="nl-BE" sz="1600" i="1" dirty="0">
                <a:latin typeface="+mj-lt"/>
              </a:rPr>
            </a:br>
            <a:r>
              <a:rPr lang="nl-BE" sz="1600" dirty="0">
                <a:latin typeface="+mj-lt"/>
              </a:rPr>
              <a:t>Insuline</a:t>
            </a:r>
            <a:br>
              <a:rPr lang="nl-BE" sz="1600" dirty="0">
                <a:latin typeface="+mj-lt"/>
              </a:rPr>
            </a:br>
            <a:r>
              <a:rPr lang="nl-BE" sz="1600" dirty="0">
                <a:latin typeface="+mj-lt"/>
              </a:rPr>
              <a:t>Glucagon</a:t>
            </a:r>
            <a:endParaRPr lang="en-US" sz="1600" dirty="0"/>
          </a:p>
        </p:txBody>
      </p:sp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7F9A10D4-5EEE-6571-0797-70D0F93ECD21}"/>
              </a:ext>
            </a:extLst>
          </p:cNvPr>
          <p:cNvCxnSpPr>
            <a:cxnSpLocks/>
          </p:cNvCxnSpPr>
          <p:nvPr/>
        </p:nvCxnSpPr>
        <p:spPr>
          <a:xfrm>
            <a:off x="8384437" y="3230904"/>
            <a:ext cx="1003403" cy="1980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kstvak 18">
            <a:extLst>
              <a:ext uri="{FF2B5EF4-FFF2-40B4-BE49-F238E27FC236}">
                <a16:creationId xmlns:a16="http://schemas.microsoft.com/office/drawing/2014/main" id="{F40135F4-2731-1342-465C-675FA3BDB4D0}"/>
              </a:ext>
            </a:extLst>
          </p:cNvPr>
          <p:cNvSpPr txBox="1"/>
          <p:nvPr/>
        </p:nvSpPr>
        <p:spPr>
          <a:xfrm>
            <a:off x="9467454" y="3250162"/>
            <a:ext cx="30107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600" i="1" dirty="0">
                <a:latin typeface="+mj-lt"/>
              </a:rPr>
              <a:t>Regulatie o.a. bloeddruk</a:t>
            </a:r>
            <a:br>
              <a:rPr lang="nl-BE" sz="1600" i="1" dirty="0">
                <a:latin typeface="+mj-lt"/>
              </a:rPr>
            </a:br>
            <a:r>
              <a:rPr lang="nl-BE" sz="1600" dirty="0">
                <a:latin typeface="+mj-lt"/>
              </a:rPr>
              <a:t>Adrenaline</a:t>
            </a:r>
            <a:br>
              <a:rPr lang="nl-BE" sz="1600" dirty="0">
                <a:latin typeface="+mj-lt"/>
              </a:rPr>
            </a:br>
            <a:r>
              <a:rPr lang="nl-BE" sz="1600" dirty="0">
                <a:latin typeface="+mj-lt"/>
              </a:rPr>
              <a:t>Noradrenaline</a:t>
            </a:r>
            <a:endParaRPr lang="en-US" sz="1600" i="1" dirty="0"/>
          </a:p>
        </p:txBody>
      </p:sp>
      <p:cxnSp>
        <p:nvCxnSpPr>
          <p:cNvPr id="20" name="Rechte verbindingslijn met pijl 19">
            <a:extLst>
              <a:ext uri="{FF2B5EF4-FFF2-40B4-BE49-F238E27FC236}">
                <a16:creationId xmlns:a16="http://schemas.microsoft.com/office/drawing/2014/main" id="{24D934FE-203C-53BA-968E-DAF8EED0708E}"/>
              </a:ext>
            </a:extLst>
          </p:cNvPr>
          <p:cNvCxnSpPr>
            <a:cxnSpLocks/>
          </p:cNvCxnSpPr>
          <p:nvPr/>
        </p:nvCxnSpPr>
        <p:spPr>
          <a:xfrm flipH="1">
            <a:off x="2453641" y="3400512"/>
            <a:ext cx="1622007" cy="2651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Rechte verbindingslijn met pijl 21">
            <a:extLst>
              <a:ext uri="{FF2B5EF4-FFF2-40B4-BE49-F238E27FC236}">
                <a16:creationId xmlns:a16="http://schemas.microsoft.com/office/drawing/2014/main" id="{D6769147-CA47-890D-6C72-AA633B92FECB}"/>
              </a:ext>
            </a:extLst>
          </p:cNvPr>
          <p:cNvCxnSpPr>
            <a:cxnSpLocks/>
          </p:cNvCxnSpPr>
          <p:nvPr/>
        </p:nvCxnSpPr>
        <p:spPr>
          <a:xfrm>
            <a:off x="8174550" y="4219247"/>
            <a:ext cx="1292904" cy="6657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Rechte verbindingslijn met pijl 23">
            <a:extLst>
              <a:ext uri="{FF2B5EF4-FFF2-40B4-BE49-F238E27FC236}">
                <a16:creationId xmlns:a16="http://schemas.microsoft.com/office/drawing/2014/main" id="{D1C17DB3-B9F3-AB7F-889B-2DA84C66896E}"/>
              </a:ext>
            </a:extLst>
          </p:cNvPr>
          <p:cNvCxnSpPr>
            <a:cxnSpLocks/>
          </p:cNvCxnSpPr>
          <p:nvPr/>
        </p:nvCxnSpPr>
        <p:spPr>
          <a:xfrm flipH="1">
            <a:off x="2724545" y="3840957"/>
            <a:ext cx="1052446" cy="9822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kstvak 25">
            <a:extLst>
              <a:ext uri="{FF2B5EF4-FFF2-40B4-BE49-F238E27FC236}">
                <a16:creationId xmlns:a16="http://schemas.microsoft.com/office/drawing/2014/main" id="{32732235-1936-DFF4-87DF-1843ECA00DD2}"/>
              </a:ext>
            </a:extLst>
          </p:cNvPr>
          <p:cNvSpPr txBox="1"/>
          <p:nvPr/>
        </p:nvSpPr>
        <p:spPr>
          <a:xfrm>
            <a:off x="229546" y="4797883"/>
            <a:ext cx="30107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600" i="1" dirty="0">
                <a:solidFill>
                  <a:srgbClr val="BF81E5"/>
                </a:solidFill>
                <a:latin typeface="+mj-lt"/>
              </a:rPr>
              <a:t>Vrouwelijk geslachtshormoon</a:t>
            </a:r>
            <a:br>
              <a:rPr lang="nl-BE" sz="1600" i="1" dirty="0">
                <a:latin typeface="+mj-lt"/>
              </a:rPr>
            </a:br>
            <a:r>
              <a:rPr lang="nl-BE" sz="1600" dirty="0">
                <a:latin typeface="+mj-lt"/>
              </a:rPr>
              <a:t>Oestrogeen</a:t>
            </a:r>
            <a:br>
              <a:rPr lang="nl-BE" sz="1600" dirty="0">
                <a:latin typeface="+mj-lt"/>
              </a:rPr>
            </a:br>
            <a:r>
              <a:rPr lang="nl-BE" sz="1600" dirty="0">
                <a:latin typeface="+mj-lt"/>
              </a:rPr>
              <a:t>Progesteron</a:t>
            </a:r>
            <a:endParaRPr lang="en-US" sz="1600" dirty="0"/>
          </a:p>
        </p:txBody>
      </p:sp>
      <p:sp>
        <p:nvSpPr>
          <p:cNvPr id="28" name="Tekstvak 27">
            <a:extLst>
              <a:ext uri="{FF2B5EF4-FFF2-40B4-BE49-F238E27FC236}">
                <a16:creationId xmlns:a16="http://schemas.microsoft.com/office/drawing/2014/main" id="{8CF47FA4-92B3-5F59-D2BC-72F5D8E3F21E}"/>
              </a:ext>
            </a:extLst>
          </p:cNvPr>
          <p:cNvSpPr txBox="1"/>
          <p:nvPr/>
        </p:nvSpPr>
        <p:spPr>
          <a:xfrm>
            <a:off x="9497934" y="4734125"/>
            <a:ext cx="30107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600" i="1" dirty="0">
                <a:solidFill>
                  <a:srgbClr val="0070C0"/>
                </a:solidFill>
                <a:latin typeface="+mj-lt"/>
              </a:rPr>
              <a:t>Mannelijk geslachtshormoon</a:t>
            </a:r>
            <a:br>
              <a:rPr lang="nl-BE" sz="1600" i="1" dirty="0">
                <a:latin typeface="+mj-lt"/>
              </a:rPr>
            </a:br>
            <a:r>
              <a:rPr lang="nl-BE" sz="1600" dirty="0">
                <a:latin typeface="+mj-lt"/>
              </a:rPr>
              <a:t>Testosteron</a:t>
            </a:r>
            <a:endParaRPr lang="en-US" sz="1600" dirty="0"/>
          </a:p>
        </p:txBody>
      </p:sp>
      <p:sp>
        <p:nvSpPr>
          <p:cNvPr id="5" name="Ovaal 4">
            <a:extLst>
              <a:ext uri="{FF2B5EF4-FFF2-40B4-BE49-F238E27FC236}">
                <a16:creationId xmlns:a16="http://schemas.microsoft.com/office/drawing/2014/main" id="{340AD5E6-7F19-AC96-2804-1B79B4F7B9BA}"/>
              </a:ext>
            </a:extLst>
          </p:cNvPr>
          <p:cNvSpPr/>
          <p:nvPr/>
        </p:nvSpPr>
        <p:spPr>
          <a:xfrm>
            <a:off x="9348199" y="2953007"/>
            <a:ext cx="2271995" cy="13234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194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What's the Difference Between Fructose and Glucose?">
            <a:extLst>
              <a:ext uri="{FF2B5EF4-FFF2-40B4-BE49-F238E27FC236}">
                <a16:creationId xmlns:a16="http://schemas.microsoft.com/office/drawing/2014/main" id="{D0365BCC-1F05-6ADA-FCDE-8684A3EE9E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000"/>
          <a:stretch/>
        </p:blipFill>
        <p:spPr bwMode="auto">
          <a:xfrm>
            <a:off x="4542725" y="1865100"/>
            <a:ext cx="2286000" cy="1783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FEFA758F-3353-2E0A-F234-51111C2C50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7" r="8888"/>
          <a:stretch/>
        </p:blipFill>
        <p:spPr bwMode="auto">
          <a:xfrm>
            <a:off x="7629525" y="3280428"/>
            <a:ext cx="4473236" cy="2545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Light Yellow Background Paper | BD Backgrounds">
            <a:extLst>
              <a:ext uri="{FF2B5EF4-FFF2-40B4-BE49-F238E27FC236}">
                <a16:creationId xmlns:a16="http://schemas.microsoft.com/office/drawing/2014/main" id="{F5A1A97A-E54B-D584-05C9-7AC880FBE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658" y="-560914"/>
            <a:ext cx="12484359" cy="7682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hthoek: afgeronde hoeken 3">
            <a:extLst>
              <a:ext uri="{FF2B5EF4-FFF2-40B4-BE49-F238E27FC236}">
                <a16:creationId xmlns:a16="http://schemas.microsoft.com/office/drawing/2014/main" id="{8A9E8924-E3C2-C0D6-0896-94C474ADD14C}"/>
              </a:ext>
            </a:extLst>
          </p:cNvPr>
          <p:cNvSpPr/>
          <p:nvPr/>
        </p:nvSpPr>
        <p:spPr>
          <a:xfrm>
            <a:off x="4312920" y="325232"/>
            <a:ext cx="3703320" cy="6778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50800" dist="50800" dir="5400000" algn="ctr" rotWithShape="0">
              <a:srgbClr val="000000">
                <a:alpha val="9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59B159AB-17D4-BC68-4138-5872084AF1D8}"/>
              </a:ext>
            </a:extLst>
          </p:cNvPr>
          <p:cNvSpPr txBox="1"/>
          <p:nvPr/>
        </p:nvSpPr>
        <p:spPr>
          <a:xfrm>
            <a:off x="2985796" y="346185"/>
            <a:ext cx="6447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sz="3200" dirty="0">
                <a:latin typeface="+mj-lt"/>
              </a:rPr>
              <a:t>Glucosegehalte</a:t>
            </a: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012A9918-7009-D22F-2BD1-170E86CD91D7}"/>
              </a:ext>
            </a:extLst>
          </p:cNvPr>
          <p:cNvSpPr txBox="1"/>
          <p:nvPr/>
        </p:nvSpPr>
        <p:spPr>
          <a:xfrm>
            <a:off x="2504789" y="4249393"/>
            <a:ext cx="104285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2000" dirty="0">
                <a:latin typeface="+mj-lt"/>
              </a:rPr>
              <a:t>Brandstof voor cellen.</a:t>
            </a:r>
            <a:r>
              <a:rPr lang="nl-BE" sz="2000" b="1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	 	           </a:t>
            </a:r>
            <a:endParaRPr lang="nl-BE" i="1" dirty="0">
              <a:latin typeface="+mj-lt"/>
            </a:endParaRPr>
          </a:p>
        </p:txBody>
      </p:sp>
      <p:pic>
        <p:nvPicPr>
          <p:cNvPr id="5124" name="Picture 4" descr="Mag ik nog suiker eten? | Bio-Planet, jouw biosupermarkt">
            <a:extLst>
              <a:ext uri="{FF2B5EF4-FFF2-40B4-BE49-F238E27FC236}">
                <a16:creationId xmlns:a16="http://schemas.microsoft.com/office/drawing/2014/main" id="{385AF46C-EA78-F2B5-CD2F-B90756946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32" y="1317699"/>
            <a:ext cx="3421224" cy="256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Rechte verbindingslijn met pijl 2">
            <a:extLst>
              <a:ext uri="{FF2B5EF4-FFF2-40B4-BE49-F238E27FC236}">
                <a16:creationId xmlns:a16="http://schemas.microsoft.com/office/drawing/2014/main" id="{44D80923-E0D2-AB1E-9B2D-7276BE7B8300}"/>
              </a:ext>
            </a:extLst>
          </p:cNvPr>
          <p:cNvCxnSpPr>
            <a:cxnSpLocks/>
          </p:cNvCxnSpPr>
          <p:nvPr/>
        </p:nvCxnSpPr>
        <p:spPr>
          <a:xfrm>
            <a:off x="3479930" y="2521957"/>
            <a:ext cx="1359975" cy="1929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echte verbindingslijn met pijl 5">
            <a:extLst>
              <a:ext uri="{FF2B5EF4-FFF2-40B4-BE49-F238E27FC236}">
                <a16:creationId xmlns:a16="http://schemas.microsoft.com/office/drawing/2014/main" id="{C05B0377-77D1-77EF-634C-AD4CADA0F73B}"/>
              </a:ext>
            </a:extLst>
          </p:cNvPr>
          <p:cNvCxnSpPr>
            <a:cxnSpLocks/>
          </p:cNvCxnSpPr>
          <p:nvPr/>
        </p:nvCxnSpPr>
        <p:spPr>
          <a:xfrm flipH="1">
            <a:off x="4714875" y="3648180"/>
            <a:ext cx="838200" cy="5237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kstvak 9">
            <a:extLst>
              <a:ext uri="{FF2B5EF4-FFF2-40B4-BE49-F238E27FC236}">
                <a16:creationId xmlns:a16="http://schemas.microsoft.com/office/drawing/2014/main" id="{E0D95494-262A-F254-D853-46173A98D07B}"/>
              </a:ext>
            </a:extLst>
          </p:cNvPr>
          <p:cNvSpPr txBox="1"/>
          <p:nvPr/>
        </p:nvSpPr>
        <p:spPr>
          <a:xfrm>
            <a:off x="471444" y="4973979"/>
            <a:ext cx="1042856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2000" b="1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Bloedsuikerspiegel</a:t>
            </a:r>
            <a:r>
              <a:rPr lang="nl-BE" sz="2000" dirty="0">
                <a:latin typeface="+mj-lt"/>
              </a:rPr>
              <a:t>: glucosegehalte van het bloed.</a:t>
            </a:r>
            <a:br>
              <a:rPr lang="nl-BE" sz="2000" dirty="0">
                <a:latin typeface="+mj-lt"/>
              </a:rPr>
            </a:br>
            <a:r>
              <a:rPr lang="nl-BE" sz="2000" dirty="0">
                <a:latin typeface="+mj-lt"/>
              </a:rPr>
              <a:t>- Mag niet te hoog zijn.</a:t>
            </a:r>
            <a:br>
              <a:rPr lang="nl-BE" sz="2000" dirty="0">
                <a:latin typeface="+mj-lt"/>
              </a:rPr>
            </a:br>
            <a:r>
              <a:rPr lang="nl-BE" sz="2000" dirty="0">
                <a:latin typeface="+mj-lt"/>
              </a:rPr>
              <a:t>- Mag niet te laag zijn. </a:t>
            </a:r>
            <a:br>
              <a:rPr lang="nl-BE" sz="2000" dirty="0">
                <a:latin typeface="+mj-lt"/>
              </a:rPr>
            </a:br>
            <a:r>
              <a:rPr lang="nl-BE" sz="2000" dirty="0">
                <a:latin typeface="+mj-lt"/>
              </a:rPr>
              <a:t>+/- 0.1% </a:t>
            </a:r>
            <a:br>
              <a:rPr lang="nl-BE" sz="2000" dirty="0">
                <a:latin typeface="+mj-lt"/>
              </a:rPr>
            </a:br>
            <a:br>
              <a:rPr lang="nl-BE" sz="2000" dirty="0">
                <a:latin typeface="+mj-lt"/>
              </a:rPr>
            </a:br>
            <a:r>
              <a:rPr lang="nl-BE" sz="2000" b="1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		           </a:t>
            </a:r>
            <a:endParaRPr lang="nl-BE" i="1" dirty="0">
              <a:latin typeface="+mj-lt"/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C454958B-0F0D-2B3F-D04E-BD2BC20EF696}"/>
              </a:ext>
            </a:extLst>
          </p:cNvPr>
          <p:cNvSpPr txBox="1"/>
          <p:nvPr/>
        </p:nvSpPr>
        <p:spPr>
          <a:xfrm>
            <a:off x="7629525" y="2911096"/>
            <a:ext cx="7815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800" i="1" dirty="0">
                <a:latin typeface="+mj-lt"/>
              </a:rPr>
              <a:t>De bloedsuikerspiegel wordt geregeld door..?</a:t>
            </a:r>
            <a:endParaRPr lang="en-US" i="1" dirty="0"/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A1B5F576-2504-A9EF-F892-D2706FB895CB}"/>
              </a:ext>
            </a:extLst>
          </p:cNvPr>
          <p:cNvSpPr txBox="1"/>
          <p:nvPr/>
        </p:nvSpPr>
        <p:spPr>
          <a:xfrm>
            <a:off x="5348288" y="1507323"/>
            <a:ext cx="1044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800" b="1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Glucose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525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Pancreas Islet - an overview | ScienceDirect Topics">
            <a:extLst>
              <a:ext uri="{FF2B5EF4-FFF2-40B4-BE49-F238E27FC236}">
                <a16:creationId xmlns:a16="http://schemas.microsoft.com/office/drawing/2014/main" id="{22899DFD-9279-266C-6516-F05A7D084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6408" y="2801496"/>
            <a:ext cx="4636924" cy="1549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3CE52098-C437-88F6-1A40-F9FEDEC5F6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7" r="8888"/>
          <a:stretch/>
        </p:blipFill>
        <p:spPr bwMode="auto">
          <a:xfrm>
            <a:off x="838649" y="2614414"/>
            <a:ext cx="4473236" cy="2545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Light Yellow Background Paper | BD Backgrounds">
            <a:extLst>
              <a:ext uri="{FF2B5EF4-FFF2-40B4-BE49-F238E27FC236}">
                <a16:creationId xmlns:a16="http://schemas.microsoft.com/office/drawing/2014/main" id="{F5A1A97A-E54B-D584-05C9-7AC880FBE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6180" y="-129366"/>
            <a:ext cx="12484359" cy="7682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hthoek: afgeronde hoeken 3">
            <a:extLst>
              <a:ext uri="{FF2B5EF4-FFF2-40B4-BE49-F238E27FC236}">
                <a16:creationId xmlns:a16="http://schemas.microsoft.com/office/drawing/2014/main" id="{8A9E8924-E3C2-C0D6-0896-94C474ADD14C}"/>
              </a:ext>
            </a:extLst>
          </p:cNvPr>
          <p:cNvSpPr/>
          <p:nvPr/>
        </p:nvSpPr>
        <p:spPr>
          <a:xfrm>
            <a:off x="4067175" y="325232"/>
            <a:ext cx="4171950" cy="6778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50800" dist="50800" dir="5400000" algn="ctr" rotWithShape="0">
              <a:srgbClr val="000000">
                <a:alpha val="9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59B159AB-17D4-BC68-4138-5872084AF1D8}"/>
              </a:ext>
            </a:extLst>
          </p:cNvPr>
          <p:cNvSpPr txBox="1"/>
          <p:nvPr/>
        </p:nvSpPr>
        <p:spPr>
          <a:xfrm>
            <a:off x="2985796" y="346185"/>
            <a:ext cx="6447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sz="3200" dirty="0">
                <a:latin typeface="+mj-lt"/>
              </a:rPr>
              <a:t>Regeling glucosegehalte</a:t>
            </a: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012A9918-7009-D22F-2BD1-170E86CD91D7}"/>
              </a:ext>
            </a:extLst>
          </p:cNvPr>
          <p:cNvSpPr txBox="1"/>
          <p:nvPr/>
        </p:nvSpPr>
        <p:spPr>
          <a:xfrm>
            <a:off x="7182427" y="2450483"/>
            <a:ext cx="23186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600" dirty="0">
                <a:latin typeface="+mj-lt"/>
              </a:rPr>
              <a:t>Eilandjes van Langerhans</a:t>
            </a:r>
            <a:endParaRPr lang="nl-BE" sz="1600" i="1" dirty="0">
              <a:latin typeface="+mj-lt"/>
            </a:endParaRPr>
          </a:p>
        </p:txBody>
      </p:sp>
      <p:cxnSp>
        <p:nvCxnSpPr>
          <p:cNvPr id="5" name="Rechte verbindingslijn met pijl 4">
            <a:extLst>
              <a:ext uri="{FF2B5EF4-FFF2-40B4-BE49-F238E27FC236}">
                <a16:creationId xmlns:a16="http://schemas.microsoft.com/office/drawing/2014/main" id="{C9466D31-AB31-2E81-62E8-CE62996C546A}"/>
              </a:ext>
            </a:extLst>
          </p:cNvPr>
          <p:cNvCxnSpPr>
            <a:cxnSpLocks/>
          </p:cNvCxnSpPr>
          <p:nvPr/>
        </p:nvCxnSpPr>
        <p:spPr>
          <a:xfrm flipV="1">
            <a:off x="2676533" y="3662388"/>
            <a:ext cx="3476625" cy="8417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68B2A07B-40FC-60E0-3E54-4E5AA4FFD1B1}"/>
              </a:ext>
            </a:extLst>
          </p:cNvPr>
          <p:cNvCxnSpPr>
            <a:cxnSpLocks/>
          </p:cNvCxnSpPr>
          <p:nvPr/>
        </p:nvCxnSpPr>
        <p:spPr>
          <a:xfrm flipV="1">
            <a:off x="9802556" y="3133213"/>
            <a:ext cx="452965" cy="2600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>
            <a:extLst>
              <a:ext uri="{FF2B5EF4-FFF2-40B4-BE49-F238E27FC236}">
                <a16:creationId xmlns:a16="http://schemas.microsoft.com/office/drawing/2014/main" id="{C0E97D89-3893-0F7E-8C5D-7D8F297E44C0}"/>
              </a:ext>
            </a:extLst>
          </p:cNvPr>
          <p:cNvCxnSpPr>
            <a:cxnSpLocks/>
          </p:cNvCxnSpPr>
          <p:nvPr/>
        </p:nvCxnSpPr>
        <p:spPr>
          <a:xfrm>
            <a:off x="9751577" y="3622903"/>
            <a:ext cx="721256" cy="890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kstvak 11">
            <a:extLst>
              <a:ext uri="{FF2B5EF4-FFF2-40B4-BE49-F238E27FC236}">
                <a16:creationId xmlns:a16="http://schemas.microsoft.com/office/drawing/2014/main" id="{DFFCF21C-4171-FD69-5695-E65FB574A9B3}"/>
              </a:ext>
            </a:extLst>
          </p:cNvPr>
          <p:cNvSpPr txBox="1"/>
          <p:nvPr/>
        </p:nvSpPr>
        <p:spPr>
          <a:xfrm>
            <a:off x="10234685" y="2960499"/>
            <a:ext cx="23186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600" dirty="0">
                <a:latin typeface="+mj-lt"/>
              </a:rPr>
              <a:t>Insuline</a:t>
            </a:r>
            <a:endParaRPr lang="nl-BE" sz="1600" i="1" dirty="0">
              <a:latin typeface="+mj-lt"/>
            </a:endParaRP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91F8A02D-83C2-68D5-8FF7-19BD2148F841}"/>
              </a:ext>
            </a:extLst>
          </p:cNvPr>
          <p:cNvSpPr txBox="1"/>
          <p:nvPr/>
        </p:nvSpPr>
        <p:spPr>
          <a:xfrm>
            <a:off x="10463877" y="3561749"/>
            <a:ext cx="23186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600" dirty="0">
                <a:latin typeface="+mj-lt"/>
              </a:rPr>
              <a:t>Glucagon</a:t>
            </a:r>
            <a:endParaRPr lang="nl-BE" sz="1600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12430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2" descr="Light Yellow Background Paper | BD Backgrounds">
            <a:extLst>
              <a:ext uri="{FF2B5EF4-FFF2-40B4-BE49-F238E27FC236}">
                <a16:creationId xmlns:a16="http://schemas.microsoft.com/office/drawing/2014/main" id="{F5A1A97A-E54B-D584-05C9-7AC880FBE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9030" y="-107153"/>
            <a:ext cx="12484359" cy="7682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027EC4C4-7724-9176-B218-EA59702D1287}"/>
              </a:ext>
            </a:extLst>
          </p:cNvPr>
          <p:cNvSpPr txBox="1"/>
          <p:nvPr/>
        </p:nvSpPr>
        <p:spPr>
          <a:xfrm>
            <a:off x="2640661" y="289692"/>
            <a:ext cx="6238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BE" dirty="0">
                <a:latin typeface="+mj-lt"/>
              </a:rPr>
              <a:t>Glucosegehalte (bloedsuikerspiegel) mens.</a:t>
            </a:r>
            <a:br>
              <a:rPr lang="nl-BE" dirty="0">
                <a:latin typeface="+mj-lt"/>
              </a:rPr>
            </a:br>
            <a:r>
              <a:rPr lang="nl-BE" b="1" dirty="0">
                <a:latin typeface="+mj-lt"/>
              </a:rPr>
              <a:t>~</a:t>
            </a:r>
            <a:r>
              <a:rPr lang="nl-BE" dirty="0">
                <a:latin typeface="+mj-lt"/>
              </a:rPr>
              <a:t> </a:t>
            </a:r>
            <a:r>
              <a:rPr lang="nl-BE" b="1" dirty="0">
                <a:latin typeface="+mj-lt"/>
              </a:rPr>
              <a:t>0.1%</a:t>
            </a:r>
            <a:endParaRPr lang="en-US" b="1" dirty="0"/>
          </a:p>
        </p:txBody>
      </p:sp>
      <p:pic>
        <p:nvPicPr>
          <p:cNvPr id="1026" name="Picture 2" descr="11.3 Regeling van de bloedsuiker - Toelatingsexamen Arts-Tandarts">
            <a:extLst>
              <a:ext uri="{FF2B5EF4-FFF2-40B4-BE49-F238E27FC236}">
                <a16:creationId xmlns:a16="http://schemas.microsoft.com/office/drawing/2014/main" id="{84031F0C-330F-2B44-B3CE-28FA11CAA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4983" y="3217174"/>
            <a:ext cx="4193721" cy="3117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11.3 Regeling van de bloedsuiker - Toelatingsexamen Arts-Tandarts">
            <a:extLst>
              <a:ext uri="{FF2B5EF4-FFF2-40B4-BE49-F238E27FC236}">
                <a16:creationId xmlns:a16="http://schemas.microsoft.com/office/drawing/2014/main" id="{B093FED8-6C1F-58BF-0A15-41C97BF1B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012" y="3160681"/>
            <a:ext cx="4365298" cy="323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BB5C6CB0-5578-65D3-63ED-32180311DEE9}"/>
              </a:ext>
            </a:extLst>
          </p:cNvPr>
          <p:cNvCxnSpPr>
            <a:cxnSpLocks/>
          </p:cNvCxnSpPr>
          <p:nvPr/>
        </p:nvCxnSpPr>
        <p:spPr>
          <a:xfrm flipH="1">
            <a:off x="3069771" y="936023"/>
            <a:ext cx="2690327" cy="213374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echte verbindingslijn met pijl 13">
            <a:extLst>
              <a:ext uri="{FF2B5EF4-FFF2-40B4-BE49-F238E27FC236}">
                <a16:creationId xmlns:a16="http://schemas.microsoft.com/office/drawing/2014/main" id="{5D2A3788-5ECB-0643-BB74-CCD34549955D}"/>
              </a:ext>
            </a:extLst>
          </p:cNvPr>
          <p:cNvCxnSpPr>
            <a:cxnSpLocks/>
          </p:cNvCxnSpPr>
          <p:nvPr/>
        </p:nvCxnSpPr>
        <p:spPr>
          <a:xfrm>
            <a:off x="5885738" y="936022"/>
            <a:ext cx="2679764" cy="21337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>
            <a:extLst>
              <a:ext uri="{FF2B5EF4-FFF2-40B4-BE49-F238E27FC236}">
                <a16:creationId xmlns:a16="http://schemas.microsoft.com/office/drawing/2014/main" id="{EE351644-DA88-CB7C-0624-49AF9FB00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403" y="1165772"/>
            <a:ext cx="859785" cy="859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D20E9486-94AA-D3A3-BFF0-BA58103F5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074" y="1139150"/>
            <a:ext cx="886408" cy="886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kstvak 17">
            <a:extLst>
              <a:ext uri="{FF2B5EF4-FFF2-40B4-BE49-F238E27FC236}">
                <a16:creationId xmlns:a16="http://schemas.microsoft.com/office/drawing/2014/main" id="{3B1215FD-2560-998D-836B-B752E8A12F36}"/>
              </a:ext>
            </a:extLst>
          </p:cNvPr>
          <p:cNvSpPr txBox="1"/>
          <p:nvPr/>
        </p:nvSpPr>
        <p:spPr>
          <a:xfrm>
            <a:off x="8827706" y="1369696"/>
            <a:ext cx="1922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dirty="0">
                <a:latin typeface="+mj-lt"/>
              </a:rPr>
              <a:t>Nuchtere toestand</a:t>
            </a:r>
            <a:endParaRPr lang="en-US" b="1" dirty="0"/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795F5309-7086-0AFB-0B87-2ECAC6099F00}"/>
              </a:ext>
            </a:extLst>
          </p:cNvPr>
          <p:cNvSpPr txBox="1"/>
          <p:nvPr/>
        </p:nvSpPr>
        <p:spPr>
          <a:xfrm>
            <a:off x="1094574" y="1458999"/>
            <a:ext cx="1922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dirty="0">
                <a:latin typeface="+mj-lt"/>
              </a:rPr>
              <a:t>Gevoede toestand</a:t>
            </a:r>
            <a:endParaRPr lang="en-US" b="1" dirty="0"/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14BD82AB-CF04-B8B7-9C2A-D7B43E001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1241" y="799781"/>
            <a:ext cx="587829" cy="587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6CEC35A0-A843-7451-ADC7-187FFC3CA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0413" y="680990"/>
            <a:ext cx="439882" cy="439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4816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6714E89-477C-EA08-E699-46B937B9E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359" y="1334347"/>
            <a:ext cx="9918441" cy="3811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Light Yellow Background Paper | BD Backgrounds">
            <a:extLst>
              <a:ext uri="{FF2B5EF4-FFF2-40B4-BE49-F238E27FC236}">
                <a16:creationId xmlns:a16="http://schemas.microsoft.com/office/drawing/2014/main" id="{D636F4D5-00C8-6885-57F2-1706128F0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16703"/>
            <a:ext cx="12484359" cy="7682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hthoek: afgeronde hoeken 2">
            <a:extLst>
              <a:ext uri="{FF2B5EF4-FFF2-40B4-BE49-F238E27FC236}">
                <a16:creationId xmlns:a16="http://schemas.microsoft.com/office/drawing/2014/main" id="{F8875FA5-F55F-20F7-EB17-1EC07B712F0E}"/>
              </a:ext>
            </a:extLst>
          </p:cNvPr>
          <p:cNvSpPr/>
          <p:nvPr/>
        </p:nvSpPr>
        <p:spPr>
          <a:xfrm>
            <a:off x="4312920" y="325232"/>
            <a:ext cx="3703320" cy="6778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50800" dist="50800" dir="5400000" algn="ctr" rotWithShape="0">
              <a:srgbClr val="000000">
                <a:alpha val="9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EC35DBA6-27F2-EA00-FDB5-180A9637D029}"/>
              </a:ext>
            </a:extLst>
          </p:cNvPr>
          <p:cNvSpPr txBox="1"/>
          <p:nvPr/>
        </p:nvSpPr>
        <p:spPr>
          <a:xfrm>
            <a:off x="2985796" y="346185"/>
            <a:ext cx="6447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sz="3200" dirty="0">
                <a:latin typeface="+mj-lt"/>
              </a:rPr>
              <a:t>Terugkoppeling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4254829D-D094-28E4-4B83-B1F77CFA20F7}"/>
              </a:ext>
            </a:extLst>
          </p:cNvPr>
          <p:cNvSpPr txBox="1"/>
          <p:nvPr/>
        </p:nvSpPr>
        <p:spPr>
          <a:xfrm>
            <a:off x="7195980" y="1099676"/>
            <a:ext cx="6238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b="1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Terugkoppeling</a:t>
            </a:r>
            <a:r>
              <a:rPr lang="nl-BE" dirty="0">
                <a:latin typeface="+mj-lt"/>
              </a:rPr>
              <a:t> is het bijsturen van een proces.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1ECEAE4-E244-1812-33C8-C207CF92E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723" y="4012162"/>
            <a:ext cx="504477" cy="504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2C7EB67C-2B64-C75A-6FD9-FB087EBC8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787" y="679898"/>
            <a:ext cx="895739" cy="895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EA8AB7D-A58D-7685-9865-1358087E0E75}"/>
              </a:ext>
            </a:extLst>
          </p:cNvPr>
          <p:cNvSpPr txBox="1"/>
          <p:nvPr/>
        </p:nvSpPr>
        <p:spPr>
          <a:xfrm>
            <a:off x="2676175" y="638572"/>
            <a:ext cx="8957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600" dirty="0">
                <a:latin typeface="+mj-lt"/>
              </a:rPr>
              <a:t>β</a:t>
            </a:r>
            <a:r>
              <a:rPr lang="en-US" sz="1600" dirty="0">
                <a:latin typeface="+mj-lt"/>
              </a:rPr>
              <a:t> cellen</a:t>
            </a:r>
            <a:endParaRPr lang="nl-BE" sz="1600" dirty="0">
              <a:latin typeface="+mj-lt"/>
            </a:endParaRPr>
          </a:p>
        </p:txBody>
      </p:sp>
      <p:cxnSp>
        <p:nvCxnSpPr>
          <p:cNvPr id="20" name="Rechte verbindingslijn met pijl 19">
            <a:extLst>
              <a:ext uri="{FF2B5EF4-FFF2-40B4-BE49-F238E27FC236}">
                <a16:creationId xmlns:a16="http://schemas.microsoft.com/office/drawing/2014/main" id="{5C6B0EC2-1BAF-0A13-D3F3-980169529A56}"/>
              </a:ext>
            </a:extLst>
          </p:cNvPr>
          <p:cNvCxnSpPr>
            <a:cxnSpLocks/>
          </p:cNvCxnSpPr>
          <p:nvPr/>
        </p:nvCxnSpPr>
        <p:spPr>
          <a:xfrm flipV="1">
            <a:off x="2228306" y="839288"/>
            <a:ext cx="418166" cy="1678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8" name="Picture 10">
            <a:extLst>
              <a:ext uri="{FF2B5EF4-FFF2-40B4-BE49-F238E27FC236}">
                <a16:creationId xmlns:a16="http://schemas.microsoft.com/office/drawing/2014/main" id="{0C6894AD-B652-C139-62F3-62164A430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5730" y="3891175"/>
            <a:ext cx="746449" cy="746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8">
            <a:extLst>
              <a:ext uri="{FF2B5EF4-FFF2-40B4-BE49-F238E27FC236}">
                <a16:creationId xmlns:a16="http://schemas.microsoft.com/office/drawing/2014/main" id="{54DE15E2-1586-80A9-1A5A-D7DD1B3F6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8111" y="5024812"/>
            <a:ext cx="895739" cy="895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kstvak 22">
            <a:extLst>
              <a:ext uri="{FF2B5EF4-FFF2-40B4-BE49-F238E27FC236}">
                <a16:creationId xmlns:a16="http://schemas.microsoft.com/office/drawing/2014/main" id="{F5B56829-BDD0-76D9-F583-397C4BAA6050}"/>
              </a:ext>
            </a:extLst>
          </p:cNvPr>
          <p:cNvSpPr txBox="1"/>
          <p:nvPr/>
        </p:nvSpPr>
        <p:spPr>
          <a:xfrm>
            <a:off x="7855499" y="4983486"/>
            <a:ext cx="8957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600" dirty="0">
                <a:latin typeface="+mj-lt"/>
              </a:rPr>
              <a:t>α</a:t>
            </a:r>
            <a:r>
              <a:rPr lang="en-US" sz="1600" dirty="0">
                <a:latin typeface="+mj-lt"/>
              </a:rPr>
              <a:t> cellen</a:t>
            </a:r>
            <a:endParaRPr lang="nl-BE" sz="1600" dirty="0">
              <a:latin typeface="+mj-lt"/>
            </a:endParaRPr>
          </a:p>
        </p:txBody>
      </p:sp>
      <p:cxnSp>
        <p:nvCxnSpPr>
          <p:cNvPr id="24" name="Rechte verbindingslijn met pijl 23">
            <a:extLst>
              <a:ext uri="{FF2B5EF4-FFF2-40B4-BE49-F238E27FC236}">
                <a16:creationId xmlns:a16="http://schemas.microsoft.com/office/drawing/2014/main" id="{B9A5489C-8940-7650-0B5F-E4CD7ECB1478}"/>
              </a:ext>
            </a:extLst>
          </p:cNvPr>
          <p:cNvCxnSpPr>
            <a:cxnSpLocks/>
          </p:cNvCxnSpPr>
          <p:nvPr/>
        </p:nvCxnSpPr>
        <p:spPr>
          <a:xfrm flipV="1">
            <a:off x="7407630" y="5184202"/>
            <a:ext cx="418166" cy="1678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4413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4159FE3D-2CD9-0AF4-4EC1-E0CBD120C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42" r="22627"/>
          <a:stretch/>
        </p:blipFill>
        <p:spPr bwMode="auto">
          <a:xfrm>
            <a:off x="606490" y="1258044"/>
            <a:ext cx="5197150" cy="3481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Light Yellow Background Paper | BD Backgrounds">
            <a:extLst>
              <a:ext uri="{FF2B5EF4-FFF2-40B4-BE49-F238E27FC236}">
                <a16:creationId xmlns:a16="http://schemas.microsoft.com/office/drawing/2014/main" id="{D636F4D5-00C8-6885-57F2-1706128F0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16703"/>
            <a:ext cx="12484359" cy="7682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hthoek: afgeronde hoeken 2">
            <a:extLst>
              <a:ext uri="{FF2B5EF4-FFF2-40B4-BE49-F238E27FC236}">
                <a16:creationId xmlns:a16="http://schemas.microsoft.com/office/drawing/2014/main" id="{F8875FA5-F55F-20F7-EB17-1EC07B712F0E}"/>
              </a:ext>
            </a:extLst>
          </p:cNvPr>
          <p:cNvSpPr/>
          <p:nvPr/>
        </p:nvSpPr>
        <p:spPr>
          <a:xfrm>
            <a:off x="4058815" y="325232"/>
            <a:ext cx="4189445" cy="6778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50800" dist="50800" dir="5400000" algn="ctr" rotWithShape="0">
              <a:srgbClr val="000000">
                <a:alpha val="9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EC35DBA6-27F2-EA00-FDB5-180A9637D029}"/>
              </a:ext>
            </a:extLst>
          </p:cNvPr>
          <p:cNvSpPr txBox="1"/>
          <p:nvPr/>
        </p:nvSpPr>
        <p:spPr>
          <a:xfrm>
            <a:off x="2985796" y="346185"/>
            <a:ext cx="6447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sz="3200" dirty="0" err="1">
                <a:latin typeface="+mj-lt"/>
              </a:rPr>
              <a:t>Fight</a:t>
            </a:r>
            <a:r>
              <a:rPr lang="nl-BE" sz="3200" dirty="0">
                <a:latin typeface="+mj-lt"/>
              </a:rPr>
              <a:t>-or-flight hormoon</a:t>
            </a:r>
          </a:p>
        </p:txBody>
      </p:sp>
      <p:cxnSp>
        <p:nvCxnSpPr>
          <p:cNvPr id="2" name="Rechte verbindingslijn met pijl 1">
            <a:extLst>
              <a:ext uri="{FF2B5EF4-FFF2-40B4-BE49-F238E27FC236}">
                <a16:creationId xmlns:a16="http://schemas.microsoft.com/office/drawing/2014/main" id="{66D9E4E0-F50D-511C-7FDD-AC2B08BA8C07}"/>
              </a:ext>
            </a:extLst>
          </p:cNvPr>
          <p:cNvCxnSpPr>
            <a:cxnSpLocks/>
          </p:cNvCxnSpPr>
          <p:nvPr/>
        </p:nvCxnSpPr>
        <p:spPr>
          <a:xfrm>
            <a:off x="3464766" y="1913428"/>
            <a:ext cx="3449430" cy="24194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kstvak 5">
            <a:extLst>
              <a:ext uri="{FF2B5EF4-FFF2-40B4-BE49-F238E27FC236}">
                <a16:creationId xmlns:a16="http://schemas.microsoft.com/office/drawing/2014/main" id="{B71B29DB-D20A-9C55-DE85-968775D82096}"/>
              </a:ext>
            </a:extLst>
          </p:cNvPr>
          <p:cNvSpPr txBox="1"/>
          <p:nvPr/>
        </p:nvSpPr>
        <p:spPr>
          <a:xfrm>
            <a:off x="6914196" y="1978413"/>
            <a:ext cx="519693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dirty="0">
                <a:latin typeface="+mj-lt"/>
              </a:rPr>
              <a:t>Wanneer het lichaam zich bedreigt voelt produceren</a:t>
            </a:r>
            <a:br>
              <a:rPr lang="nl-BE" dirty="0">
                <a:latin typeface="+mj-lt"/>
              </a:rPr>
            </a:br>
            <a:r>
              <a:rPr lang="nl-BE" dirty="0">
                <a:latin typeface="+mj-lt"/>
              </a:rPr>
              <a:t>de bijnieren grote hoeveelheden </a:t>
            </a:r>
            <a:r>
              <a:rPr lang="nl-BE" b="1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adrenaline</a:t>
            </a:r>
            <a:r>
              <a:rPr lang="nl-BE" dirty="0">
                <a:latin typeface="+mj-lt"/>
              </a:rPr>
              <a:t>.</a:t>
            </a:r>
            <a:br>
              <a:rPr lang="nl-BE" dirty="0">
                <a:latin typeface="+mj-lt"/>
              </a:rPr>
            </a:br>
            <a:r>
              <a:rPr lang="nl-BE" dirty="0">
                <a:latin typeface="+mj-lt"/>
              </a:rPr>
              <a:t>- Veroorzaakt stress.</a:t>
            </a:r>
            <a:br>
              <a:rPr lang="nl-BE" dirty="0">
                <a:latin typeface="+mj-lt"/>
              </a:rPr>
            </a:br>
            <a:br>
              <a:rPr lang="nl-BE" dirty="0">
                <a:latin typeface="+mj-lt"/>
              </a:rPr>
            </a:br>
            <a:r>
              <a:rPr lang="nl-BE" i="1" dirty="0">
                <a:latin typeface="+mj-lt"/>
              </a:rPr>
              <a:t>Gaat vaak samen met..</a:t>
            </a:r>
            <a:br>
              <a:rPr lang="nl-BE" i="1" dirty="0">
                <a:latin typeface="+mj-lt"/>
              </a:rPr>
            </a:br>
            <a:r>
              <a:rPr lang="nl-BE" dirty="0">
                <a:latin typeface="+mj-lt"/>
              </a:rPr>
              <a:t>- </a:t>
            </a:r>
            <a:r>
              <a:rPr lang="nl-BE" b="1" dirty="0">
                <a:latin typeface="+mj-lt"/>
              </a:rPr>
              <a:t>Angst</a:t>
            </a:r>
            <a:br>
              <a:rPr lang="nl-BE" dirty="0">
                <a:latin typeface="+mj-lt"/>
              </a:rPr>
            </a:br>
            <a:r>
              <a:rPr lang="nl-BE" dirty="0">
                <a:latin typeface="+mj-lt"/>
              </a:rPr>
              <a:t>- </a:t>
            </a:r>
            <a:r>
              <a:rPr lang="nl-BE" b="1" dirty="0">
                <a:latin typeface="+mj-lt"/>
              </a:rPr>
              <a:t>Woede</a:t>
            </a:r>
            <a:br>
              <a:rPr lang="nl-BE" dirty="0">
                <a:latin typeface="+mj-lt"/>
              </a:rPr>
            </a:br>
            <a:r>
              <a:rPr lang="nl-BE" dirty="0">
                <a:latin typeface="+mj-lt"/>
              </a:rPr>
              <a:t>- Kou</a:t>
            </a:r>
            <a:br>
              <a:rPr lang="nl-BE" dirty="0">
                <a:latin typeface="+mj-lt"/>
              </a:rPr>
            </a:br>
            <a:r>
              <a:rPr lang="nl-BE" dirty="0">
                <a:latin typeface="+mj-lt"/>
              </a:rPr>
              <a:t>- Hitte </a:t>
            </a:r>
            <a:br>
              <a:rPr lang="nl-BE" dirty="0">
                <a:latin typeface="+mj-lt"/>
              </a:rPr>
            </a:br>
            <a:r>
              <a:rPr lang="nl-BE" dirty="0">
                <a:latin typeface="+mj-lt"/>
              </a:rPr>
              <a:t>- Honger</a:t>
            </a:r>
            <a:br>
              <a:rPr lang="nl-BE" dirty="0">
                <a:latin typeface="+mj-lt"/>
              </a:rPr>
            </a:br>
            <a:r>
              <a:rPr lang="nl-BE" dirty="0">
                <a:latin typeface="+mj-lt"/>
              </a:rPr>
              <a:t>- Pijn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41D53EBE-98FB-67FE-011A-E29627D936B7}"/>
              </a:ext>
            </a:extLst>
          </p:cNvPr>
          <p:cNvSpPr txBox="1"/>
          <p:nvPr/>
        </p:nvSpPr>
        <p:spPr>
          <a:xfrm>
            <a:off x="6690463" y="5202758"/>
            <a:ext cx="58498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dirty="0">
                <a:latin typeface="+mj-lt"/>
              </a:rPr>
              <a:t>Wanneer er veel adrenaline in je bloed komt gebeurd er..</a:t>
            </a:r>
            <a:br>
              <a:rPr lang="nl-BE" dirty="0">
                <a:latin typeface="+mj-lt"/>
              </a:rPr>
            </a:br>
            <a:r>
              <a:rPr lang="nl-BE" dirty="0">
                <a:latin typeface="+mj-lt"/>
              </a:rPr>
              <a:t>Hartslag..</a:t>
            </a:r>
            <a:br>
              <a:rPr lang="nl-BE" dirty="0">
                <a:latin typeface="+mj-lt"/>
              </a:rPr>
            </a:br>
            <a:r>
              <a:rPr lang="nl-BE" dirty="0">
                <a:latin typeface="+mj-lt"/>
              </a:rPr>
              <a:t>Ademhaling..</a:t>
            </a:r>
            <a:br>
              <a:rPr lang="nl-BE" dirty="0">
                <a:latin typeface="+mj-lt"/>
              </a:rPr>
            </a:br>
            <a:r>
              <a:rPr lang="nl-BE" dirty="0">
                <a:latin typeface="+mj-lt"/>
              </a:rPr>
              <a:t>Bloedsuikerspiegel..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31C3F50B-1E32-B98F-9C66-3556B52F353F}"/>
              </a:ext>
            </a:extLst>
          </p:cNvPr>
          <p:cNvSpPr txBox="1"/>
          <p:nvPr/>
        </p:nvSpPr>
        <p:spPr>
          <a:xfrm>
            <a:off x="7740479" y="5475056"/>
            <a:ext cx="1641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dirty="0">
                <a:solidFill>
                  <a:srgbClr val="FF0000"/>
                </a:solidFill>
                <a:latin typeface="+mj-lt"/>
              </a:rPr>
              <a:t>Hoger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63F7121A-2750-41DF-29C1-904B7A189CB9}"/>
              </a:ext>
            </a:extLst>
          </p:cNvPr>
          <p:cNvSpPr txBox="1"/>
          <p:nvPr/>
        </p:nvSpPr>
        <p:spPr>
          <a:xfrm>
            <a:off x="8080302" y="5753176"/>
            <a:ext cx="1641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dirty="0">
                <a:solidFill>
                  <a:srgbClr val="FF0000"/>
                </a:solidFill>
                <a:latin typeface="+mj-lt"/>
              </a:rPr>
              <a:t>Sneller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C6607475-D16F-2D34-F3ED-0042AD21A411}"/>
              </a:ext>
            </a:extLst>
          </p:cNvPr>
          <p:cNvSpPr txBox="1"/>
          <p:nvPr/>
        </p:nvSpPr>
        <p:spPr>
          <a:xfrm>
            <a:off x="8689902" y="6018450"/>
            <a:ext cx="1641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dirty="0">
                <a:solidFill>
                  <a:srgbClr val="FF0000"/>
                </a:solidFill>
                <a:latin typeface="+mj-lt"/>
              </a:rPr>
              <a:t>Stijgt</a:t>
            </a:r>
          </a:p>
        </p:txBody>
      </p:sp>
    </p:spTree>
    <p:extLst>
      <p:ext uri="{BB962C8B-B14F-4D97-AF65-F5344CB8AC3E}">
        <p14:creationId xmlns:p14="http://schemas.microsoft.com/office/powerpoint/2010/main" val="2765289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ight Yellow Background Paper | BD Backgrounds">
            <a:extLst>
              <a:ext uri="{FF2B5EF4-FFF2-40B4-BE49-F238E27FC236}">
                <a16:creationId xmlns:a16="http://schemas.microsoft.com/office/drawing/2014/main" id="{014E0B23-8BDC-B1C8-FEA0-1E712871F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2505" y="-331315"/>
            <a:ext cx="12484359" cy="7682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hthoek: afgeronde hoeken 3">
            <a:extLst>
              <a:ext uri="{FF2B5EF4-FFF2-40B4-BE49-F238E27FC236}">
                <a16:creationId xmlns:a16="http://schemas.microsoft.com/office/drawing/2014/main" id="{8A9E8924-E3C2-C0D6-0896-94C474ADD14C}"/>
              </a:ext>
            </a:extLst>
          </p:cNvPr>
          <p:cNvSpPr/>
          <p:nvPr/>
        </p:nvSpPr>
        <p:spPr>
          <a:xfrm>
            <a:off x="3805728" y="387714"/>
            <a:ext cx="4381500" cy="6778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50800" dist="50800" dir="5400000" algn="ctr" rotWithShape="0">
              <a:srgbClr val="000000">
                <a:alpha val="9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al 7">
            <a:extLst>
              <a:ext uri="{FF2B5EF4-FFF2-40B4-BE49-F238E27FC236}">
                <a16:creationId xmlns:a16="http://schemas.microsoft.com/office/drawing/2014/main" id="{230708D7-AA1E-06C4-99B9-302D5AF03C11}"/>
              </a:ext>
            </a:extLst>
          </p:cNvPr>
          <p:cNvSpPr/>
          <p:nvPr/>
        </p:nvSpPr>
        <p:spPr>
          <a:xfrm>
            <a:off x="4313080" y="1902132"/>
            <a:ext cx="3565839" cy="349096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b="1" i="0" dirty="0">
                <a:solidFill>
                  <a:srgbClr val="253646"/>
                </a:solidFill>
                <a:effectLst/>
                <a:latin typeface="+mj-lt"/>
              </a:rPr>
              <a:t>1. </a:t>
            </a:r>
            <a:r>
              <a:rPr lang="nl-NL" sz="1600" i="0" dirty="0">
                <a:solidFill>
                  <a:srgbClr val="253646"/>
                </a:solidFill>
                <a:effectLst/>
                <a:latin typeface="+mj-lt"/>
              </a:rPr>
              <a:t>Je kunt benoemen wat terugkoppeling is en hiervan voorbeelden geven.</a:t>
            </a:r>
            <a:br>
              <a:rPr lang="nl-NL" sz="1600" dirty="0">
                <a:latin typeface="+mj-lt"/>
              </a:rPr>
            </a:br>
            <a:endParaRPr lang="nl-NL" sz="1600" dirty="0">
              <a:latin typeface="+mj-lt"/>
            </a:endParaRPr>
          </a:p>
          <a:p>
            <a:pPr algn="ctr"/>
            <a:r>
              <a:rPr lang="nl-NL" sz="1600" b="1" dirty="0">
                <a:solidFill>
                  <a:srgbClr val="253646"/>
                </a:solidFill>
                <a:latin typeface="+mj-lt"/>
              </a:rPr>
              <a:t>2. </a:t>
            </a:r>
            <a:r>
              <a:rPr lang="nl-NL" sz="1600" i="0" dirty="0">
                <a:solidFill>
                  <a:srgbClr val="253646"/>
                </a:solidFill>
                <a:effectLst/>
                <a:latin typeface="+mj-lt"/>
              </a:rPr>
              <a:t>Je kunt de werking van adrenaline, glucagon en insuline benoemen.</a:t>
            </a:r>
            <a:endParaRPr lang="en-US" sz="1600" dirty="0">
              <a:latin typeface="+mj-lt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53427032-13F1-D95A-0601-C3BD4DE3D7DA}"/>
              </a:ext>
            </a:extLst>
          </p:cNvPr>
          <p:cNvSpPr txBox="1"/>
          <p:nvPr/>
        </p:nvSpPr>
        <p:spPr>
          <a:xfrm>
            <a:off x="3953366" y="434227"/>
            <a:ext cx="4086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sz="3200" dirty="0">
                <a:latin typeface="+mj-lt"/>
              </a:rPr>
              <a:t>Leerdoelen </a:t>
            </a:r>
          </a:p>
        </p:txBody>
      </p:sp>
    </p:spTree>
    <p:extLst>
      <p:ext uri="{BB962C8B-B14F-4D97-AF65-F5344CB8AC3E}">
        <p14:creationId xmlns:p14="http://schemas.microsoft.com/office/powerpoint/2010/main" val="626812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ight Yellow Background Paper | BD Backgrounds">
            <a:extLst>
              <a:ext uri="{FF2B5EF4-FFF2-40B4-BE49-F238E27FC236}">
                <a16:creationId xmlns:a16="http://schemas.microsoft.com/office/drawing/2014/main" id="{674EFC69-1541-B4C4-E661-9BBD94454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2505" y="-303323"/>
            <a:ext cx="12484359" cy="7682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hthoek: afgeronde hoeken 3">
            <a:extLst>
              <a:ext uri="{FF2B5EF4-FFF2-40B4-BE49-F238E27FC236}">
                <a16:creationId xmlns:a16="http://schemas.microsoft.com/office/drawing/2014/main" id="{8A9E8924-E3C2-C0D6-0896-94C474ADD14C}"/>
              </a:ext>
            </a:extLst>
          </p:cNvPr>
          <p:cNvSpPr/>
          <p:nvPr/>
        </p:nvSpPr>
        <p:spPr>
          <a:xfrm>
            <a:off x="3872119" y="303740"/>
            <a:ext cx="4381500" cy="6778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50800" dist="50800" dir="5400000" algn="ctr" rotWithShape="0">
              <a:srgbClr val="000000">
                <a:alpha val="9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53427032-13F1-D95A-0601-C3BD4DE3D7DA}"/>
              </a:ext>
            </a:extLst>
          </p:cNvPr>
          <p:cNvSpPr txBox="1"/>
          <p:nvPr/>
        </p:nvSpPr>
        <p:spPr>
          <a:xfrm>
            <a:off x="4052887" y="344271"/>
            <a:ext cx="4086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sz="3200" dirty="0">
                <a:latin typeface="+mj-lt"/>
              </a:rPr>
              <a:t>Huiswerk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4E058966-4C1D-CC04-0916-5F696923A688}"/>
              </a:ext>
            </a:extLst>
          </p:cNvPr>
          <p:cNvSpPr txBox="1"/>
          <p:nvPr/>
        </p:nvSpPr>
        <p:spPr>
          <a:xfrm>
            <a:off x="545156" y="1306401"/>
            <a:ext cx="113529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nl-NL" sz="3600" dirty="0">
                <a:latin typeface="+mj-lt"/>
              </a:rPr>
            </a:br>
            <a:endParaRPr lang="nl-NL" sz="3600" i="1" dirty="0">
              <a:latin typeface="+mj-lt"/>
            </a:endParaRPr>
          </a:p>
          <a:p>
            <a:pPr marL="285750" indent="-285750">
              <a:buFontTx/>
              <a:buChar char="-"/>
            </a:pPr>
            <a:endParaRPr lang="nl-NL" i="1" dirty="0">
              <a:latin typeface="+mj-lt"/>
            </a:endParaRPr>
          </a:p>
          <a:p>
            <a:endParaRPr lang="nl-NL" i="1" dirty="0">
              <a:latin typeface="+mj-lt"/>
            </a:endParaRPr>
          </a:p>
        </p:txBody>
      </p:sp>
      <p:graphicFrame>
        <p:nvGraphicFramePr>
          <p:cNvPr id="2" name="Tijdelijke aanduiding voor inhoud 2">
            <a:extLst>
              <a:ext uri="{FF2B5EF4-FFF2-40B4-BE49-F238E27FC236}">
                <a16:creationId xmlns:a16="http://schemas.microsoft.com/office/drawing/2014/main" id="{B9073205-4319-C76F-E7B7-3ED4E64BAC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484888"/>
              </p:ext>
            </p:extLst>
          </p:nvPr>
        </p:nvGraphicFramePr>
        <p:xfrm>
          <a:off x="466518" y="1324668"/>
          <a:ext cx="11109674" cy="34721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8483627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3372</TotalTime>
  <Words>451</Words>
  <Application>Microsoft Office PowerPoint</Application>
  <PresentationFormat>Breedbeeld</PresentationFormat>
  <Paragraphs>91</Paragraphs>
  <Slides>14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Kantoorthema</vt:lpstr>
      <vt:lpstr>PowerPoint-presentatie</vt:lpstr>
      <vt:lpstr>Regeling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celkern en celdeling </dc:title>
  <dc:creator>mike baets</dc:creator>
  <cp:lastModifiedBy>mike baets</cp:lastModifiedBy>
  <cp:revision>66</cp:revision>
  <dcterms:created xsi:type="dcterms:W3CDTF">2022-12-08T13:49:26Z</dcterms:created>
  <dcterms:modified xsi:type="dcterms:W3CDTF">2023-03-29T12:24:09Z</dcterms:modified>
</cp:coreProperties>
</file>